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Annualised Volatility (%)</c:v>
                </c:pt>
              </c:strCache>
            </c:strRef>
          </c:tx>
          <c:spPr>
            <a:solidFill>
              <a:srgbClr val="D9A94F"/>
            </a:solidFill>
            <a:effectLst/>
          </c:spPr>
          <c:invertIfNegative val="0"/>
          <c:dLbls>
            <c:numFmt formatCode="#,##0" sourceLinked="0"/>
            <c:txPr>
              <a:bodyPr/>
              <a:lstStyle/>
              <a:p>
                <a:pPr>
                  <a:defRPr b="0" i="0" strike="noStrike" sz="1200" u="none">
                    <a:solidFill>
                      <a:srgbClr val="132238"/>
                    </a:solidFill>
                    <a:latin typeface="Arial"/>
                  </a:defRPr>
                </a:pPr>
              </a:p>
            </c:txPr>
            <c:showLegendKey val="0"/>
            <c:showVal val="1"/>
            <c:showCatName val="0"/>
            <c:showSerName val="0"/>
            <c:showPercent val="0"/>
            <c:showBubbleSize val="0"/>
            <c:showLeaderLines val="0"/>
          </c:dLbls>
          <c:cat>
            <c:multiLvlStrRef>
              <c:f>Sheet1!$A$2:$A$7</c:f>
              <c:multiLvlStrCache>
                <c:ptCount val="6"/>
                <c:lvl>
                  <c:pt idx="0">
                    <c:v>Auto</c:v>
                  </c:pt>
                  <c:pt idx="1">
                    <c:v>Energy</c:v>
                  </c:pt>
                  <c:pt idx="2">
                    <c:v>Banking</c:v>
                  </c:pt>
                  <c:pt idx="3">
                    <c:v>Pharma</c:v>
                  </c:pt>
                  <c:pt idx="4">
                    <c:v>IT</c:v>
                  </c:pt>
                  <c:pt idx="5">
                    <c:v>FMCG</c:v>
                  </c:pt>
                </c:lvl>
              </c:multiLvlStrCache>
            </c:multiLvlStrRef>
          </c:cat>
          <c:val>
            <c:numRef>
              <c:f>Sheet1!$B$2:$B$7</c:f>
              <c:numCache>
                <c:formatCode>General</c:formatCode>
                <c:ptCount val="6"/>
                <c:pt idx="0">
                  <c:v>31.4</c:v>
                </c:pt>
                <c:pt idx="1">
                  <c:v>31.4</c:v>
                </c:pt>
                <c:pt idx="2">
                  <c:v>30.6</c:v>
                </c:pt>
                <c:pt idx="3">
                  <c:v>21.7</c:v>
                </c:pt>
                <c:pt idx="4">
                  <c:v>19.3</c:v>
                </c:pt>
                <c:pt idx="5">
                  <c:v>15.4</c:v>
                </c:pt>
              </c:numCache>
            </c:numRef>
          </c:val>
        </c:ser>
        <c:dLbls>
          <c:numFmt formatCode="#,##0" sourceLinked="0"/>
          <c:txPr>
            <a:bodyPr/>
            <a:lstStyle/>
            <a:p>
              <a:pPr>
                <a:defRPr b="0" i="0" strike="noStrike" sz="1200" u="none">
                  <a:solidFill>
                    <a:srgbClr val="1322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73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7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C273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descriptive, theory-grounded statistical study -- not a predictive/trading model, and not ML. Lead with that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not predictive -- explains why no ML was needed or used. This framing also sets up the two theory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Markowitz's 1952 'Portfolio Selection' (Journal of Finance) is the foundational citation here -- it's the origin of using variance/std. dev. as the formal definition of risk, which is exactly what this study's volatility metric measures. If asked to justify using volatility as a risk proxy at all: this is literally the textbook definition, not an assumption unique to this study. The systematic/idiosyncratic split is the standard framing from CAPM-adjacent theory -- useful if asked how this connects to broader asset pricing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'Stylized facts' is an established term in empirical finance/econophysics (see e.g. Cont, 2001, on empirical properties of asset returns) -- fat tails and volatility clustering are among the most replicated findings in the literature, not something specific to this dataset. This slide is the direct theoretical justification for two design choices: (1) using a rolling window for volatility instead of one static figure, and (2) not being surprised or treating fat tails in the histogram as a data error -- it's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covers 2024-01-02 to 2026-01-01 (9414 rows). Pipeline is identical whether fed by live yfinance/Kite Connect data or the CSV sample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1-2 are pandas hygiene. Step 3 is the foundation. Step 4 is the core technical content. Steps 5-7 move from single-stock to sector-level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Wilder introduced RSI in 'New Concepts in Technical Trading Systems' (1978), originally for commodity futures, since adopted broadly. The sqrt(252) annualisation assumes i.i.d. returns -- flagged explicitly here and revisited in the Limitations slide, since Slide 4 already showed that assumption is a simplification.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TCS as IT-sector representative. SMA crossovers are classic trend-following signals, theoretically grounded in the technical-analysis assumption that price momentum persists over short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10.3% overbought, 3.5% oversold. RSI as a behavioural-finance-adjacent concept: it's a proxy for market overreaction (Wilder's original framing), not a mechanical prediction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highest at 31.4%, FMCG lowest at 15.4%. Native editable chart -- numbers update if re-run on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empirical evidence for the stylized-facts theory slide -- fat tails visible in the histogram, wider boxes/more outliers in higher-volatility sectors on the boxplot.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via sector_returns.corr() (Pearson). Low cross-sector correlation here is the direct empirical link back to the portfolio theory slide -- diversification benefit is real in this sample, not just theoretical.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 Return = mean(daily return) x 252; Ann. Volatility = std(daily return) x sqrt(252); Return/Vol is a simplified reward-to-risk ratio, not a formal Sharpe ratio (no risk-free rate) -- see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here -- naming limitations proactively is stronger than waiting for an examiner to raise them. If pressed on any one of these, the answer is 'yes, that's a known limitation, noted explicitly, and here's why it doesn't invalidate the descriptive findings': the sector rankings (most/least volatile) are robust even without formal significance testing, since the differences observed are large relative to typical sampling noise at this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the load-bearing theoretical references for this study -- Markowitz for the risk definition, Wilder for RSI's origin, and the stylized-facts literature for why rolling volatility (not a static number) and non-normal return distributions are treated as expected, not anomalous.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reiterating scope: descriptive, theory-grounded, not predictive. If asked something outside scope, redirect to Future Work and explain why it's excluded (e.g. prediction would require ML, intentionally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8"/>
        </a:solidFill>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1F3555"/>
          </a:solidFill>
          <a:ln/>
        </p:spPr>
      </p:sp>
      <p:sp>
        <p:nvSpPr>
          <p:cNvPr id="3" name="Shape 1"/>
          <p:cNvSpPr/>
          <p:nvPr/>
        </p:nvSpPr>
        <p:spPr>
          <a:xfrm>
            <a:off x="10607040" y="4754880"/>
            <a:ext cx="2926080" cy="2926080"/>
          </a:xfrm>
          <a:prstGeom prst="ellipse">
            <a:avLst/>
          </a:prstGeom>
          <a:solidFill>
            <a:srgbClr val="1F3555"/>
          </a:solidFill>
          <a:ln/>
        </p:spPr>
      </p:sp>
      <p:sp>
        <p:nvSpPr>
          <p:cNvPr id="4" name="Shape 2"/>
          <p:cNvSpPr/>
          <p:nvPr/>
        </p:nvSpPr>
        <p:spPr>
          <a:xfrm>
            <a:off x="822960" y="1691640"/>
            <a:ext cx="868680" cy="868680"/>
          </a:xfrm>
          <a:prstGeom prst="ellipse">
            <a:avLst/>
          </a:prstGeom>
          <a:solidFill>
            <a:srgbClr val="1F3555"/>
          </a:solidFill>
          <a:ln/>
        </p:spPr>
      </p:sp>
      <p:pic>
        <p:nvPicPr>
          <p:cNvPr id="5" name="Image 0" descr="icons/chart_line_gold.png">    </p:cNvPr>
          <p:cNvPicPr>
            <a:picLocks noChangeAspect="1"/>
          </p:cNvPicPr>
          <p:nvPr/>
        </p:nvPicPr>
        <p:blipFill>
          <a:blip r:embed="rId1"/>
          <a:stretch>
            <a:fillRect/>
          </a:stretch>
        </p:blipFill>
        <p:spPr>
          <a:xfrm>
            <a:off x="927202" y="1795882"/>
            <a:ext cx="660197" cy="660197"/>
          </a:xfrm>
          <a:prstGeom prst="rect">
            <a:avLst/>
          </a:prstGeom>
        </p:spPr>
      </p:pic>
      <p:sp>
        <p:nvSpPr>
          <p:cNvPr id="6" name="Text 3"/>
          <p:cNvSpPr/>
          <p:nvPr/>
        </p:nvSpPr>
        <p:spPr>
          <a:xfrm>
            <a:off x="822960" y="2697480"/>
            <a:ext cx="10241280" cy="118872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STOCK MARKET VOLATILITY &amp; SECTOR ANALYSIS</a:t>
            </a:r>
            <a:endParaRPr lang="en-US" sz="3800" dirty="0"/>
          </a:p>
        </p:txBody>
      </p:sp>
      <p:sp>
        <p:nvSpPr>
          <p:cNvPr id="7" name="Text 4"/>
          <p:cNvSpPr/>
          <p:nvPr/>
        </p:nvSpPr>
        <p:spPr>
          <a:xfrm>
            <a:off x="822960" y="3977640"/>
            <a:ext cx="9144000" cy="777240"/>
          </a:xfrm>
          <a:prstGeom prst="rect">
            <a:avLst/>
          </a:prstGeom>
          <a:noFill/>
          <a:ln/>
        </p:spPr>
        <p:txBody>
          <a:bodyPr wrap="square" lIns="0" tIns="0" rIns="0" bIns="0" rtlCol="0" anchor="ctr"/>
          <a:lstStyle/>
          <a:p>
            <a:pPr indent="0" marL="0">
              <a:buNone/>
            </a:pPr>
            <a:r>
              <a:rPr lang="en-US" sz="1500" i="1" dirty="0">
                <a:solidFill>
                  <a:srgbClr val="F0DCA8"/>
                </a:solidFill>
                <a:latin typeface="Calibri" pitchFamily="34" charset="0"/>
                <a:ea typeface="Calibri" pitchFamily="34" charset="-122"/>
                <a:cs typeface="Calibri" pitchFamily="34" charset="-120"/>
              </a:rPr>
              <a:t>A comparative study of volatility, momentum, and correlation across six market sectors,</a:t>
            </a:r>
            <a:endParaRPr lang="en-US" sz="1500" dirty="0"/>
          </a:p>
          <a:p>
            <a:pPr indent="0" marL="0">
              <a:buNone/>
            </a:pPr>
            <a:r>
              <a:rPr lang="en-US" sz="1500" i="1" dirty="0">
                <a:solidFill>
                  <a:srgbClr val="F0DCA8"/>
                </a:solidFill>
                <a:latin typeface="Calibri" pitchFamily="34" charset="0"/>
                <a:ea typeface="Calibri" pitchFamily="34" charset="-122"/>
                <a:cs typeface="Calibri" pitchFamily="34" charset="-120"/>
              </a:rPr>
              <a:t>grounded in modern portfolio theory and the empirical literature on financial returns</a:t>
            </a:r>
            <a:endParaRPr lang="en-US" sz="1500" dirty="0"/>
          </a:p>
        </p:txBody>
      </p:sp>
      <p:sp>
        <p:nvSpPr>
          <p:cNvPr id="8" name="Text 5"/>
          <p:cNvSpPr/>
          <p:nvPr/>
        </p:nvSpPr>
        <p:spPr>
          <a:xfrm>
            <a:off x="822960" y="5989320"/>
            <a:ext cx="8229600" cy="6400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pandas  •  numpy  •  matplotlib  •  seaborn</a:t>
            </a:r>
            <a:endParaRPr lang="en-US" sz="1300" dirty="0"/>
          </a:p>
          <a:p>
            <a:pPr indent="0" marL="0">
              <a:buNone/>
            </a:pPr>
            <a:r>
              <a:rPr lang="en-US" sz="1300" dirty="0">
                <a:solidFill>
                  <a:srgbClr val="9FB3C8"/>
                </a:solidFill>
                <a:latin typeface="Calibri" pitchFamily="34" charset="0"/>
                <a:ea typeface="Calibri" pitchFamily="34" charset="-122"/>
                <a:cs typeface="Calibri" pitchFamily="34" charset="-120"/>
              </a:rPr>
              <a:t>No machine learning — fully manual indicator implementation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bullseye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OBJECTIVE</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Why compare volatility across sectors?</a:t>
            </a:r>
            <a:endParaRPr lang="en-US" sz="2700" dirty="0"/>
          </a:p>
        </p:txBody>
      </p:sp>
      <p:sp>
        <p:nvSpPr>
          <p:cNvPr id="6" name="Text 3"/>
          <p:cNvSpPr/>
          <p:nvPr/>
        </p:nvSpPr>
        <p:spPr>
          <a:xfrm>
            <a:off x="1280160" y="1600200"/>
            <a:ext cx="6035040" cy="2926080"/>
          </a:xfrm>
          <a:prstGeom prst="rect">
            <a:avLst/>
          </a:prstGeom>
          <a:noFill/>
          <a:ln/>
        </p:spPr>
        <p:txBody>
          <a:bodyPr wrap="square" rtlCol="0" anchor="t"/>
          <a:lstStyle/>
          <a:p>
            <a:pPr marL="342900" indent="-342900">
              <a:spcAft>
                <a:spcPts val="1400"/>
              </a:spcAft>
              <a:buSzPct val="100000"/>
              <a:buChar char="•"/>
            </a:pPr>
            <a:r>
              <a:rPr lang="en-US" sz="1600" dirty="0">
                <a:solidFill>
                  <a:srgbClr val="1C2733"/>
                </a:solidFill>
                <a:latin typeface="Calibri" pitchFamily="34" charset="0"/>
                <a:ea typeface="Calibri" pitchFamily="34" charset="-122"/>
                <a:cs typeface="Calibri" pitchFamily="34" charset="-120"/>
              </a:rPr>
              <a:t>Different sectors react differently to macro events, interest rates, and commodity cycles.</a:t>
            </a:r>
            <a:endParaRPr lang="en-US" sz="1600" dirty="0"/>
          </a:p>
          <a:p>
            <a:pPr marL="342900" indent="-342900">
              <a:spcAft>
                <a:spcPts val="1400"/>
              </a:spcAft>
              <a:buSzPct val="100000"/>
              <a:buChar char="•"/>
            </a:pPr>
            <a:r>
              <a:rPr lang="en-US" sz="1600" dirty="0">
                <a:solidFill>
                  <a:srgbClr val="1C2733"/>
                </a:solidFill>
                <a:latin typeface="Calibri" pitchFamily="34" charset="0"/>
                <a:ea typeface="Calibri" pitchFamily="34" charset="-122"/>
                <a:cs typeface="Calibri" pitchFamily="34" charset="-120"/>
              </a:rPr>
              <a:t>Volatility is a core measure of investment risk -- comparing it across sectors reveals where risk concentrates.</a:t>
            </a:r>
            <a:endParaRPr lang="en-US" sz="1600" dirty="0"/>
          </a:p>
          <a:p>
            <a:pPr marL="342900" indent="-342900">
              <a:spcAft>
                <a:spcPts val="1400"/>
              </a:spcAft>
              <a:buSzPct val="100000"/>
              <a:buChar char="•"/>
            </a:pPr>
            <a:r>
              <a:rPr lang="en-US" sz="1600" dirty="0">
                <a:solidFill>
                  <a:srgbClr val="1C2733"/>
                </a:solidFill>
                <a:latin typeface="Calibri" pitchFamily="34" charset="0"/>
                <a:ea typeface="Calibri" pitchFamily="34" charset="-122"/>
                <a:cs typeface="Calibri" pitchFamily="34" charset="-120"/>
              </a:rPr>
              <a:t>Combining volatility with momentum (RSI) and correlation gives a fuller risk picture than any single metric alone.</a:t>
            </a:r>
            <a:endParaRPr lang="en-US" sz="1600" dirty="0"/>
          </a:p>
        </p:txBody>
      </p:sp>
      <p:sp>
        <p:nvSpPr>
          <p:cNvPr id="7" name="Shape 4"/>
          <p:cNvSpPr/>
          <p:nvPr/>
        </p:nvSpPr>
        <p:spPr>
          <a:xfrm>
            <a:off x="7772400" y="1737360"/>
            <a:ext cx="1234440" cy="1234440"/>
          </a:xfrm>
          <a:prstGeom prst="roundRect">
            <a:avLst>
              <a:gd name="adj" fmla="val 8889"/>
            </a:avLst>
          </a:prstGeom>
          <a:solidFill>
            <a:srgbClr val="FFFFFF"/>
          </a:solidFill>
          <a:ln/>
          <a:effectLst>
            <a:outerShdw sx="100000" sy="100000" kx="0" ky="0" algn="bl" rotWithShape="0" blurRad="101600" dist="38100" dir="2700000">
              <a:srgbClr val="0F1826">
                <a:alpha val="18000"/>
              </a:srgbClr>
            </a:outerShdw>
          </a:effectLst>
        </p:spPr>
      </p:sp>
      <p:sp>
        <p:nvSpPr>
          <p:cNvPr id="8" name="Text 5"/>
          <p:cNvSpPr/>
          <p:nvPr/>
        </p:nvSpPr>
        <p:spPr>
          <a:xfrm>
            <a:off x="7772400" y="1828800"/>
            <a:ext cx="1234440" cy="685800"/>
          </a:xfrm>
          <a:prstGeom prst="rect">
            <a:avLst/>
          </a:prstGeom>
          <a:noFill/>
          <a:ln/>
        </p:spPr>
        <p:txBody>
          <a:bodyPr wrap="square" lIns="0" tIns="0" rIns="0" bIns="0" rtlCol="0" anchor="ctr"/>
          <a:lstStyle/>
          <a:p>
            <a:pPr algn="ctr" indent="0" marL="0">
              <a:buNone/>
            </a:pPr>
            <a:r>
              <a:rPr lang="en-US" sz="2600" b="1" dirty="0">
                <a:solidFill>
                  <a:srgbClr val="132238"/>
                </a:solidFill>
                <a:latin typeface="Cambria" pitchFamily="34" charset="0"/>
                <a:ea typeface="Cambria" pitchFamily="34" charset="-122"/>
                <a:cs typeface="Cambria" pitchFamily="34" charset="-120"/>
              </a:rPr>
              <a:t>18</a:t>
            </a:r>
            <a:endParaRPr lang="en-US" sz="2600" dirty="0"/>
          </a:p>
        </p:txBody>
      </p:sp>
      <p:sp>
        <p:nvSpPr>
          <p:cNvPr id="9" name="Text 6"/>
          <p:cNvSpPr/>
          <p:nvPr/>
        </p:nvSpPr>
        <p:spPr>
          <a:xfrm>
            <a:off x="7772400" y="2450592"/>
            <a:ext cx="1234440" cy="3657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Stocks</a:t>
            </a:r>
            <a:endParaRPr lang="en-US" sz="1000" dirty="0"/>
          </a:p>
        </p:txBody>
      </p:sp>
      <p:sp>
        <p:nvSpPr>
          <p:cNvPr id="10" name="Shape 7"/>
          <p:cNvSpPr/>
          <p:nvPr/>
        </p:nvSpPr>
        <p:spPr>
          <a:xfrm>
            <a:off x="9189720" y="1737360"/>
            <a:ext cx="1234440" cy="1234440"/>
          </a:xfrm>
          <a:prstGeom prst="roundRect">
            <a:avLst>
              <a:gd name="adj" fmla="val 8889"/>
            </a:avLst>
          </a:prstGeom>
          <a:solidFill>
            <a:srgbClr val="FFFFFF"/>
          </a:solidFill>
          <a:ln/>
          <a:effectLst>
            <a:outerShdw sx="100000" sy="100000" kx="0" ky="0" algn="bl" rotWithShape="0" blurRad="101600" dist="38100" dir="2700000">
              <a:srgbClr val="0F1826">
                <a:alpha val="18000"/>
              </a:srgbClr>
            </a:outerShdw>
          </a:effectLst>
        </p:spPr>
      </p:sp>
      <p:sp>
        <p:nvSpPr>
          <p:cNvPr id="11" name="Text 8"/>
          <p:cNvSpPr/>
          <p:nvPr/>
        </p:nvSpPr>
        <p:spPr>
          <a:xfrm>
            <a:off x="9189720" y="1828800"/>
            <a:ext cx="1234440" cy="685800"/>
          </a:xfrm>
          <a:prstGeom prst="rect">
            <a:avLst/>
          </a:prstGeom>
          <a:noFill/>
          <a:ln/>
        </p:spPr>
        <p:txBody>
          <a:bodyPr wrap="square" lIns="0" tIns="0" rIns="0" bIns="0" rtlCol="0" anchor="ctr"/>
          <a:lstStyle/>
          <a:p>
            <a:pPr algn="ctr" indent="0" marL="0">
              <a:buNone/>
            </a:pPr>
            <a:r>
              <a:rPr lang="en-US" sz="2600" b="1" dirty="0">
                <a:solidFill>
                  <a:srgbClr val="132238"/>
                </a:solidFill>
                <a:latin typeface="Cambria" pitchFamily="34" charset="0"/>
                <a:ea typeface="Cambria" pitchFamily="34" charset="-122"/>
                <a:cs typeface="Cambria" pitchFamily="34" charset="-120"/>
              </a:rPr>
              <a:t>6</a:t>
            </a:r>
            <a:endParaRPr lang="en-US" sz="2600" dirty="0"/>
          </a:p>
        </p:txBody>
      </p:sp>
      <p:sp>
        <p:nvSpPr>
          <p:cNvPr id="12" name="Text 9"/>
          <p:cNvSpPr/>
          <p:nvPr/>
        </p:nvSpPr>
        <p:spPr>
          <a:xfrm>
            <a:off x="9189720" y="2450592"/>
            <a:ext cx="1234440" cy="3657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Sectors</a:t>
            </a:r>
            <a:endParaRPr lang="en-US" sz="1000" dirty="0"/>
          </a:p>
        </p:txBody>
      </p:sp>
      <p:sp>
        <p:nvSpPr>
          <p:cNvPr id="13" name="Shape 10"/>
          <p:cNvSpPr/>
          <p:nvPr/>
        </p:nvSpPr>
        <p:spPr>
          <a:xfrm>
            <a:off x="10607040" y="1737360"/>
            <a:ext cx="1234440" cy="1234440"/>
          </a:xfrm>
          <a:prstGeom prst="roundRect">
            <a:avLst>
              <a:gd name="adj" fmla="val 8889"/>
            </a:avLst>
          </a:prstGeom>
          <a:solidFill>
            <a:srgbClr val="FFFFFF"/>
          </a:solidFill>
          <a:ln/>
          <a:effectLst>
            <a:outerShdw sx="100000" sy="100000" kx="0" ky="0" algn="bl" rotWithShape="0" blurRad="101600" dist="38100" dir="2700000">
              <a:srgbClr val="0F1826">
                <a:alpha val="18000"/>
              </a:srgbClr>
            </a:outerShdw>
          </a:effectLst>
        </p:spPr>
      </p:sp>
      <p:sp>
        <p:nvSpPr>
          <p:cNvPr id="14" name="Text 11"/>
          <p:cNvSpPr/>
          <p:nvPr/>
        </p:nvSpPr>
        <p:spPr>
          <a:xfrm>
            <a:off x="10607040" y="1828800"/>
            <a:ext cx="1234440" cy="685800"/>
          </a:xfrm>
          <a:prstGeom prst="rect">
            <a:avLst/>
          </a:prstGeom>
          <a:noFill/>
          <a:ln/>
        </p:spPr>
        <p:txBody>
          <a:bodyPr wrap="square" lIns="0" tIns="0" rIns="0" bIns="0" rtlCol="0" anchor="ctr"/>
          <a:lstStyle/>
          <a:p>
            <a:pPr algn="ctr" indent="0" marL="0">
              <a:buNone/>
            </a:pPr>
            <a:r>
              <a:rPr lang="en-US" sz="2600" b="1" dirty="0">
                <a:solidFill>
                  <a:srgbClr val="132238"/>
                </a:solidFill>
                <a:latin typeface="Cambria" pitchFamily="34" charset="0"/>
                <a:ea typeface="Cambria" pitchFamily="34" charset="-122"/>
                <a:cs typeface="Cambria" pitchFamily="34" charset="-120"/>
              </a:rPr>
              <a:t>2 yrs</a:t>
            </a:r>
            <a:endParaRPr lang="en-US" sz="2600" dirty="0"/>
          </a:p>
        </p:txBody>
      </p:sp>
      <p:sp>
        <p:nvSpPr>
          <p:cNvPr id="15" name="Text 12"/>
          <p:cNvSpPr/>
          <p:nvPr/>
        </p:nvSpPr>
        <p:spPr>
          <a:xfrm>
            <a:off x="10607040" y="2450592"/>
            <a:ext cx="1234440" cy="3657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Daily data</a:t>
            </a:r>
            <a:endParaRPr lang="en-US" sz="1000" dirty="0"/>
          </a:p>
        </p:txBody>
      </p:sp>
      <p:sp>
        <p:nvSpPr>
          <p:cNvPr id="16" name="Shape 13"/>
          <p:cNvSpPr/>
          <p:nvPr/>
        </p:nvSpPr>
        <p:spPr>
          <a:xfrm>
            <a:off x="1280160" y="4892040"/>
            <a:ext cx="9601200" cy="1005840"/>
          </a:xfrm>
          <a:prstGeom prst="roundRect">
            <a:avLst>
              <a:gd name="adj" fmla="val 9091"/>
            </a:avLst>
          </a:prstGeom>
          <a:solidFill>
            <a:srgbClr val="EAF2EF"/>
          </a:solidFill>
          <a:ln/>
        </p:spPr>
      </p:sp>
      <p:sp>
        <p:nvSpPr>
          <p:cNvPr id="17" name="Text 14"/>
          <p:cNvSpPr/>
          <p:nvPr/>
        </p:nvSpPr>
        <p:spPr>
          <a:xfrm>
            <a:off x="1554480" y="4892040"/>
            <a:ext cx="9052560" cy="1005840"/>
          </a:xfrm>
          <a:prstGeom prst="rect">
            <a:avLst/>
          </a:prstGeom>
          <a:noFill/>
          <a:ln/>
        </p:spPr>
        <p:txBody>
          <a:bodyPr wrap="square" lIns="0" tIns="0" rIns="0" bIns="0" rtlCol="0" anchor="ctr"/>
          <a:lstStyle/>
          <a:p>
            <a:pPr indent="0" marL="0">
              <a:buNone/>
            </a:pPr>
            <a:r>
              <a:rPr lang="en-US" sz="1400" i="1" dirty="0">
                <a:solidFill>
                  <a:srgbClr val="1E5C4A"/>
                </a:solidFill>
                <a:latin typeface="Calibri" pitchFamily="34" charset="0"/>
                <a:ea typeface="Calibri" pitchFamily="34" charset="-122"/>
                <a:cs typeface="Calibri" pitchFamily="34" charset="-120"/>
              </a:rPr>
              <a:t>This is a descriptive statistical study, not a predictive or trading model.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shield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THEORETICAL FRAMEWORK</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Why volatility is the right lens for risk</a:t>
            </a:r>
            <a:endParaRPr lang="en-US" sz="2700" dirty="0"/>
          </a:p>
        </p:txBody>
      </p:sp>
      <p:sp>
        <p:nvSpPr>
          <p:cNvPr id="6" name="Text 3"/>
          <p:cNvSpPr/>
          <p:nvPr/>
        </p:nvSpPr>
        <p:spPr>
          <a:xfrm>
            <a:off x="1280160" y="1645920"/>
            <a:ext cx="9601200" cy="3291840"/>
          </a:xfrm>
          <a:prstGeom prst="rect">
            <a:avLst/>
          </a:prstGeom>
          <a:noFill/>
          <a:ln/>
        </p:spPr>
        <p:txBody>
          <a:bodyPr wrap="square" rtlCol="0" anchor="t"/>
          <a:lstStyle/>
          <a:p>
            <a:pPr marL="342900" indent="-342900">
              <a:spcAft>
                <a:spcPts val="1800"/>
              </a:spcAft>
              <a:buSzPct val="100000"/>
              <a:buChar char="•"/>
            </a:pPr>
            <a:r>
              <a:rPr lang="en-US" sz="1500" dirty="0">
                <a:solidFill>
                  <a:srgbClr val="1C2733"/>
                </a:solidFill>
                <a:latin typeface="Calibri" pitchFamily="34" charset="0"/>
                <a:ea typeface="Calibri" pitchFamily="34" charset="-122"/>
                <a:cs typeface="Calibri" pitchFamily="34" charset="-120"/>
              </a:rPr>
              <a:t>Modern Portfolio Theory (Markowitz, 1952) formalised investment risk as the variance -- equivalently, the standard deviation -- of an asset's returns. This study's volatility measure is a direct, textbook application of that definition.</a:t>
            </a:r>
            <a:endParaRPr lang="en-US" sz="1500" dirty="0"/>
          </a:p>
          <a:p>
            <a:pPr marL="342900" indent="-342900">
              <a:spcAft>
                <a:spcPts val="1800"/>
              </a:spcAft>
              <a:buSzPct val="100000"/>
              <a:buChar char="•"/>
            </a:pPr>
            <a:r>
              <a:rPr lang="en-US" sz="1500" dirty="0">
                <a:solidFill>
                  <a:srgbClr val="1C2733"/>
                </a:solidFill>
                <a:latin typeface="Calibri" pitchFamily="34" charset="0"/>
                <a:ea typeface="Calibri" pitchFamily="34" charset="-122"/>
                <a:cs typeface="Calibri" pitchFamily="34" charset="-120"/>
              </a:rPr>
              <a:t>Total risk decomposes into systematic risk (market-wide, cannot be diversified away) and idiosyncratic risk (sector- or firm-specific, can be diversified away). Comparing volatility across sectors is, in effect, comparing how much idiosyncratic risk each sector contributes.</a:t>
            </a:r>
            <a:endParaRPr lang="en-US" sz="1500" dirty="0"/>
          </a:p>
          <a:p>
            <a:pPr marL="342900" indent="-342900">
              <a:spcAft>
                <a:spcPts val="1800"/>
              </a:spcAft>
              <a:buSzPct val="100000"/>
              <a:buChar char="•"/>
            </a:pPr>
            <a:r>
              <a:rPr lang="en-US" sz="1500" dirty="0">
                <a:solidFill>
                  <a:srgbClr val="1C2733"/>
                </a:solidFill>
                <a:latin typeface="Calibri" pitchFamily="34" charset="0"/>
                <a:ea typeface="Calibri" pitchFamily="34" charset="-122"/>
                <a:cs typeface="Calibri" pitchFamily="34" charset="-120"/>
              </a:rPr>
              <a:t>The benefit of diversification depends on the correlation between assets, not on their individual volatility alone -- two volatile sectors that move independently can still reduce portfolio-level risk when held together. This motivates the correlation analysis later in this study.</a:t>
            </a:r>
            <a:endParaRPr lang="en-US" sz="1500" dirty="0"/>
          </a:p>
        </p:txBody>
      </p:sp>
      <p:sp>
        <p:nvSpPr>
          <p:cNvPr id="7" name="Shape 4"/>
          <p:cNvSpPr/>
          <p:nvPr/>
        </p:nvSpPr>
        <p:spPr>
          <a:xfrm>
            <a:off x="1280160" y="5074920"/>
            <a:ext cx="9601200" cy="1234440"/>
          </a:xfrm>
          <a:prstGeom prst="roundRect">
            <a:avLst>
              <a:gd name="adj" fmla="val 7407"/>
            </a:avLst>
          </a:prstGeom>
          <a:solidFill>
            <a:srgbClr val="132238"/>
          </a:solidFill>
          <a:ln/>
        </p:spPr>
      </p:sp>
      <p:sp>
        <p:nvSpPr>
          <p:cNvPr id="8" name="Text 5"/>
          <p:cNvSpPr/>
          <p:nvPr/>
        </p:nvSpPr>
        <p:spPr>
          <a:xfrm>
            <a:off x="1554480" y="5074920"/>
            <a:ext cx="9052560" cy="1234440"/>
          </a:xfrm>
          <a:prstGeom prst="rect">
            <a:avLst/>
          </a:prstGeom>
          <a:noFill/>
          <a:ln/>
        </p:spPr>
        <p:txBody>
          <a:bodyPr wrap="square" lIns="0" tIns="0" rIns="0" bIns="0" rtlCol="0" anchor="ctr"/>
          <a:lstStyle/>
          <a:p>
            <a:pPr indent="0" marL="0">
              <a:spcAft>
                <a:spcPts val="600"/>
              </a:spcAft>
              <a:buNone/>
            </a:pPr>
            <a:r>
              <a:rPr lang="en-US" sz="1500" b="1" dirty="0">
                <a:solidFill>
                  <a:srgbClr val="D9A94F"/>
                </a:solidFill>
                <a:latin typeface="Calibri" pitchFamily="34" charset="0"/>
                <a:ea typeface="Calibri" pitchFamily="34" charset="-122"/>
                <a:cs typeface="Calibri" pitchFamily="34" charset="-120"/>
              </a:rPr>
              <a:t>Total Risk</a:t>
            </a:r>
            <a:endParaRPr lang="en-US" sz="1500" dirty="0"/>
          </a:p>
          <a:p>
            <a:pPr indent="0" marL="0">
              <a:buNone/>
            </a:pPr>
            <a:r>
              <a:rPr lang="en-US" sz="1400" dirty="0">
                <a:solidFill>
                  <a:srgbClr val="FFFFFF"/>
                </a:solidFill>
                <a:latin typeface="Calibri" pitchFamily="34" charset="0"/>
                <a:ea typeface="Calibri" pitchFamily="34" charset="-122"/>
                <a:cs typeface="Calibri" pitchFamily="34" charset="-120"/>
              </a:rPr>
              <a:t>=  Systematic Risk (market-wide)  +  Idiosyncratic Risk (sector-specific)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chartarea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THEORETICAL FRAMEWORK</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Why standard distributional assumptions don't fully apply</a:t>
            </a:r>
            <a:endParaRPr lang="en-US" sz="2700" dirty="0"/>
          </a:p>
        </p:txBody>
      </p:sp>
      <p:sp>
        <p:nvSpPr>
          <p:cNvPr id="6" name="Text 3"/>
          <p:cNvSpPr/>
          <p:nvPr/>
        </p:nvSpPr>
        <p:spPr>
          <a:xfrm>
            <a:off x="1280160" y="1645920"/>
            <a:ext cx="9601200" cy="2468880"/>
          </a:xfrm>
          <a:prstGeom prst="rect">
            <a:avLst/>
          </a:prstGeom>
          <a:noFill/>
          <a:ln/>
        </p:spPr>
        <p:txBody>
          <a:bodyPr wrap="square" rtlCol="0" anchor="t"/>
          <a:lstStyle/>
          <a:p>
            <a:pPr marL="342900" indent="-342900">
              <a:spcAft>
                <a:spcPts val="1200"/>
              </a:spcAft>
              <a:buSzPct val="100000"/>
              <a:buChar char="•"/>
            </a:pPr>
            <a:r>
              <a:rPr lang="en-US" sz="1400" dirty="0">
                <a:solidFill>
                  <a:srgbClr val="1C2733"/>
                </a:solidFill>
                <a:latin typeface="Calibri" pitchFamily="34" charset="0"/>
                <a:ea typeface="Calibri" pitchFamily="34" charset="-122"/>
                <a:cs typeface="Calibri" pitchFamily="34" charset="-120"/>
              </a:rPr>
              <a:t>Financial returns are well documented in the empirical finance literature to deviate from a normal distribution -- a set of recurring empirical regularities often referred to as the 'stylized facts' of asset returns.</a:t>
            </a:r>
            <a:endParaRPr lang="en-US" sz="1400" dirty="0"/>
          </a:p>
          <a:p>
            <a:pPr marL="342900" indent="-342900">
              <a:spcAft>
                <a:spcPts val="1200"/>
              </a:spcAft>
              <a:buSzPct val="100000"/>
              <a:buChar char="•"/>
            </a:pPr>
            <a:r>
              <a:rPr lang="en-US" sz="1400" dirty="0">
                <a:solidFill>
                  <a:srgbClr val="1C2733"/>
                </a:solidFill>
                <a:latin typeface="Calibri" pitchFamily="34" charset="0"/>
                <a:ea typeface="Calibri" pitchFamily="34" charset="-122"/>
                <a:cs typeface="Calibri" pitchFamily="34" charset="-120"/>
              </a:rPr>
              <a:t>Fat tails: extreme daily moves occur more often than a normal distribution would predict.</a:t>
            </a:r>
            <a:endParaRPr lang="en-US" sz="1400" dirty="0"/>
          </a:p>
          <a:p>
            <a:pPr marL="342900" indent="-342900">
              <a:spcAft>
                <a:spcPts val="1200"/>
              </a:spcAft>
              <a:buSzPct val="100000"/>
              <a:buChar char="•"/>
            </a:pPr>
            <a:r>
              <a:rPr lang="en-US" sz="1400" dirty="0">
                <a:solidFill>
                  <a:srgbClr val="1C2733"/>
                </a:solidFill>
                <a:latin typeface="Calibri" pitchFamily="34" charset="0"/>
                <a:ea typeface="Calibri" pitchFamily="34" charset="-122"/>
                <a:cs typeface="Calibri" pitchFamily="34" charset="-120"/>
              </a:rPr>
              <a:t>Volatility clustering: large price moves tend to be followed by more large moves (of either sign) -- volatility is not constant over time.</a:t>
            </a:r>
            <a:endParaRPr lang="en-US" sz="1400" dirty="0"/>
          </a:p>
        </p:txBody>
      </p:sp>
      <p:sp>
        <p:nvSpPr>
          <p:cNvPr id="7" name="Shape 4"/>
          <p:cNvSpPr/>
          <p:nvPr/>
        </p:nvSpPr>
        <p:spPr>
          <a:xfrm>
            <a:off x="1280160" y="4251960"/>
            <a:ext cx="4663440" cy="2011680"/>
          </a:xfrm>
          <a:prstGeom prst="roundRect">
            <a:avLst>
              <a:gd name="adj" fmla="val 4545"/>
            </a:avLst>
          </a:prstGeom>
          <a:solidFill>
            <a:srgbClr val="FFFFFF"/>
          </a:solidFill>
          <a:ln/>
          <a:effectLst>
            <a:outerShdw sx="100000" sy="100000" kx="0" ky="0" algn="bl" rotWithShape="0" blurRad="101600" dist="38100" dir="2700000">
              <a:srgbClr val="0F1826">
                <a:alpha val="18000"/>
              </a:srgbClr>
            </a:outerShdw>
          </a:effectLst>
        </p:spPr>
      </p:sp>
      <p:sp>
        <p:nvSpPr>
          <p:cNvPr id="8" name="Text 5"/>
          <p:cNvSpPr/>
          <p:nvPr/>
        </p:nvSpPr>
        <p:spPr>
          <a:xfrm>
            <a:off x="1508760" y="4389120"/>
            <a:ext cx="4206240" cy="320040"/>
          </a:xfrm>
          <a:prstGeom prst="rect">
            <a:avLst/>
          </a:prstGeom>
          <a:noFill/>
          <a:ln/>
        </p:spPr>
        <p:txBody>
          <a:bodyPr wrap="square" lIns="0" tIns="0" rIns="0" bIns="0" rtlCol="0" anchor="ctr"/>
          <a:lstStyle/>
          <a:p>
            <a:pPr indent="0" marL="0">
              <a:buNone/>
            </a:pPr>
            <a:r>
              <a:rPr lang="en-US" sz="1150" b="1" dirty="0">
                <a:solidFill>
                  <a:srgbClr val="D9A94F"/>
                </a:solidFill>
                <a:latin typeface="Calibri" pitchFamily="34" charset="0"/>
                <a:ea typeface="Calibri" pitchFamily="34" charset="-122"/>
                <a:cs typeface="Calibri" pitchFamily="34" charset="-120"/>
              </a:rPr>
              <a:t>Evidence in this study</a:t>
            </a:r>
            <a:endParaRPr lang="en-US" sz="1150" dirty="0"/>
          </a:p>
        </p:txBody>
      </p:sp>
      <p:sp>
        <p:nvSpPr>
          <p:cNvPr id="9" name="Text 6"/>
          <p:cNvSpPr/>
          <p:nvPr/>
        </p:nvSpPr>
        <p:spPr>
          <a:xfrm>
            <a:off x="1508760" y="4709160"/>
            <a:ext cx="4206240" cy="1417320"/>
          </a:xfrm>
          <a:prstGeom prst="rect">
            <a:avLst/>
          </a:prstGeom>
          <a:noFill/>
          <a:ln/>
        </p:spPr>
        <p:txBody>
          <a:bodyPr wrap="square" lIns="0" tIns="0" rIns="0" bIns="0" rtlCol="0" anchor="ctr"/>
          <a:lstStyle/>
          <a:p>
            <a:pPr indent="0" marL="0">
              <a:buNone/>
            </a:pPr>
            <a:r>
              <a:rPr lang="en-US" sz="1250" dirty="0">
                <a:solidFill>
                  <a:srgbClr val="1C2733"/>
                </a:solidFill>
                <a:latin typeface="Calibri" pitchFamily="34" charset="0"/>
                <a:ea typeface="Calibri" pitchFamily="34" charset="-122"/>
                <a:cs typeface="Calibri" pitchFamily="34" charset="-120"/>
              </a:rPr>
              <a:t>The return-distribution histogram (this study, sector comparison) shows visibly fatter tails than a normal curve would produce for every sector examined.</a:t>
            </a:r>
            <a:endParaRPr lang="en-US" sz="1250" dirty="0"/>
          </a:p>
        </p:txBody>
      </p:sp>
      <p:sp>
        <p:nvSpPr>
          <p:cNvPr id="10" name="Shape 7"/>
          <p:cNvSpPr/>
          <p:nvPr/>
        </p:nvSpPr>
        <p:spPr>
          <a:xfrm>
            <a:off x="6172200" y="4251960"/>
            <a:ext cx="4709160" cy="2011680"/>
          </a:xfrm>
          <a:prstGeom prst="roundRect">
            <a:avLst>
              <a:gd name="adj" fmla="val 4545"/>
            </a:avLst>
          </a:prstGeom>
          <a:solidFill>
            <a:srgbClr val="132238"/>
          </a:solidFill>
          <a:ln/>
        </p:spPr>
      </p:sp>
      <p:sp>
        <p:nvSpPr>
          <p:cNvPr id="11" name="Text 8"/>
          <p:cNvSpPr/>
          <p:nvPr/>
        </p:nvSpPr>
        <p:spPr>
          <a:xfrm>
            <a:off x="6400800" y="4389120"/>
            <a:ext cx="4251960" cy="320040"/>
          </a:xfrm>
          <a:prstGeom prst="rect">
            <a:avLst/>
          </a:prstGeom>
          <a:noFill/>
          <a:ln/>
        </p:spPr>
        <p:txBody>
          <a:bodyPr wrap="square" lIns="0" tIns="0" rIns="0" bIns="0" rtlCol="0" anchor="ctr"/>
          <a:lstStyle/>
          <a:p>
            <a:pPr indent="0" marL="0">
              <a:buNone/>
            </a:pPr>
            <a:r>
              <a:rPr lang="en-US" sz="1150" b="1" dirty="0">
                <a:solidFill>
                  <a:srgbClr val="D9A94F"/>
                </a:solidFill>
                <a:latin typeface="Calibri" pitchFamily="34" charset="0"/>
                <a:ea typeface="Calibri" pitchFamily="34" charset="-122"/>
                <a:cs typeface="Calibri" pitchFamily="34" charset="-120"/>
              </a:rPr>
              <a:t>Why this matters methodologically</a:t>
            </a:r>
            <a:endParaRPr lang="en-US" sz="1150" dirty="0"/>
          </a:p>
        </p:txBody>
      </p:sp>
      <p:sp>
        <p:nvSpPr>
          <p:cNvPr id="12" name="Text 9"/>
          <p:cNvSpPr/>
          <p:nvPr/>
        </p:nvSpPr>
        <p:spPr>
          <a:xfrm>
            <a:off x="6400800" y="4709160"/>
            <a:ext cx="4251960" cy="1417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Because volatility clusters rather than staying constant, this study measures it with a rolling 21-day window -- not a single fixed number -- so the metric can move with the market instead of assuming stability it doesn't have.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database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DATA &amp; METHODOLOGY</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Universe, tools, and scope</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5669280" cy="4206240"/>
        </p:xfrm>
        <a:graphic>
          <a:graphicData uri="http://schemas.openxmlformats.org/drawingml/2006/table">
            <a:tbl>
              <a:tblPr/>
              <a:tblGrid>
                <a:gridCol w="2834640"/>
                <a:gridCol w="2834640"/>
              </a:tblGrid>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Sector</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Representative Stocks</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IT</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TCS, INFY, WIPRO</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Banking</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HDFCBANK, ICICIBANK, SBIN</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Auto</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TATAMOTORS, MARUTI, M&amp;M</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Pharma</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SUNPHARMA, DRREDDY, CIPLA</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FMCG</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HINDUNILVR, ITC, NESTLEIND</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Energy</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indent="0" marL="0">
                        <a:buNone/>
                      </a:pPr>
                      <a:r>
                        <a:rPr lang="en-US" sz="1250" dirty="0">
                          <a:solidFill>
                            <a:srgbClr val="1C2733"/>
                          </a:solidFill>
                          <a:latin typeface="Calibri" pitchFamily="34" charset="0"/>
                          <a:ea typeface="Calibri" pitchFamily="34" charset="-122"/>
                          <a:cs typeface="Calibri" pitchFamily="34" charset="-120"/>
                        </a:rPr>
                        <a:t>RELIANCE, ONGC, NTPC</a:t>
                      </a:r>
                      <a:endParaRPr lang="en-US" sz="1250" dirty="0">
                        <a:latin typeface="Calibri" charset="0"/>
                        <a:ea typeface="Calibri" charset="0"/>
                        <a:cs typeface="Calibri" charset="0"/>
                      </a:endParaRPr>
                    </a:p>
                  </a:txBody>
                  <a:tcPr marL="91440" marR="91440" marT="45720" marB="45720">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bl>
          </a:graphicData>
        </a:graphic>
      </p:graphicFrame>
      <p:sp>
        <p:nvSpPr>
          <p:cNvPr id="7" name="Text 3"/>
          <p:cNvSpPr/>
          <p:nvPr/>
        </p:nvSpPr>
        <p:spPr>
          <a:xfrm>
            <a:off x="6858000" y="1600200"/>
            <a:ext cx="4572000" cy="320040"/>
          </a:xfrm>
          <a:prstGeom prst="rect">
            <a:avLst/>
          </a:prstGeom>
          <a:noFill/>
          <a:ln/>
        </p:spPr>
        <p:txBody>
          <a:bodyPr wrap="square" lIns="0" tIns="0" rIns="0" bIns="0" rtlCol="0" anchor="ctr"/>
          <a:lstStyle/>
          <a:p>
            <a:pPr indent="0" marL="0">
              <a:buNone/>
            </a:pPr>
            <a:r>
              <a:rPr lang="en-US" sz="1200" b="1" spc="150" kern="0" dirty="0">
                <a:solidFill>
                  <a:srgbClr val="D9A94F"/>
                </a:solidFill>
                <a:latin typeface="Calibri" pitchFamily="34" charset="0"/>
                <a:ea typeface="Calibri" pitchFamily="34" charset="-122"/>
                <a:cs typeface="Calibri" pitchFamily="34" charset="-120"/>
              </a:rPr>
              <a:t>TOOLS USED</a:t>
            </a:r>
            <a:endParaRPr lang="en-US" sz="1200" dirty="0"/>
          </a:p>
        </p:txBody>
      </p:sp>
      <p:sp>
        <p:nvSpPr>
          <p:cNvPr id="8" name="Text 4"/>
          <p:cNvSpPr/>
          <p:nvPr/>
        </p:nvSpPr>
        <p:spPr>
          <a:xfrm>
            <a:off x="6858000" y="1965960"/>
            <a:ext cx="4572000" cy="1920240"/>
          </a:xfrm>
          <a:prstGeom prst="rect">
            <a:avLst/>
          </a:prstGeom>
          <a:noFill/>
          <a:ln/>
        </p:spPr>
        <p:txBody>
          <a:bodyPr wrap="square" rtlCol="0" anchor="t"/>
          <a:lstStyle/>
          <a:p>
            <a:pPr marL="342900" indent="-342900">
              <a:spcAft>
                <a:spcPts val="1000"/>
              </a:spcAft>
              <a:buSzPct val="100000"/>
              <a:buChar char="•"/>
            </a:pPr>
            <a:r>
              <a:rPr lang="en-US" sz="1350" dirty="0">
                <a:solidFill>
                  <a:srgbClr val="1C2733"/>
                </a:solidFill>
                <a:latin typeface="Calibri" pitchFamily="34" charset="0"/>
                <a:ea typeface="Calibri" pitchFamily="34" charset="-122"/>
                <a:cs typeface="Calibri" pitchFamily="34" charset="-120"/>
              </a:rPr>
              <a:t>pandas -- data handling &amp; manual indicator math</a:t>
            </a:r>
            <a:endParaRPr lang="en-US" sz="1350" dirty="0"/>
          </a:p>
          <a:p>
            <a:pPr marL="342900" indent="-342900">
              <a:spcAft>
                <a:spcPts val="1000"/>
              </a:spcAft>
              <a:buSzPct val="100000"/>
              <a:buChar char="•"/>
            </a:pPr>
            <a:r>
              <a:rPr lang="en-US" sz="1350" dirty="0">
                <a:solidFill>
                  <a:srgbClr val="1C2733"/>
                </a:solidFill>
                <a:latin typeface="Calibri" pitchFamily="34" charset="0"/>
                <a:ea typeface="Calibri" pitchFamily="34" charset="-122"/>
                <a:cs typeface="Calibri" pitchFamily="34" charset="-120"/>
              </a:rPr>
              <a:t>numpy -- log returns, annualisation</a:t>
            </a:r>
            <a:endParaRPr lang="en-US" sz="1350" dirty="0"/>
          </a:p>
          <a:p>
            <a:pPr marL="342900" indent="-342900">
              <a:spcAft>
                <a:spcPts val="1000"/>
              </a:spcAft>
              <a:buSzPct val="100000"/>
              <a:buChar char="•"/>
            </a:pPr>
            <a:r>
              <a:rPr lang="en-US" sz="1350" dirty="0">
                <a:solidFill>
                  <a:srgbClr val="1C2733"/>
                </a:solidFill>
                <a:latin typeface="Calibri" pitchFamily="34" charset="0"/>
                <a:ea typeface="Calibri" pitchFamily="34" charset="-122"/>
                <a:cs typeface="Calibri" pitchFamily="34" charset="-120"/>
              </a:rPr>
              <a:t>matplotlib -- price, trend, RSI charts</a:t>
            </a:r>
            <a:endParaRPr lang="en-US" sz="1350" dirty="0"/>
          </a:p>
          <a:p>
            <a:pPr marL="342900" indent="-342900">
              <a:spcAft>
                <a:spcPts val="1000"/>
              </a:spcAft>
              <a:buSzPct val="100000"/>
              <a:buChar char="•"/>
            </a:pPr>
            <a:r>
              <a:rPr lang="en-US" sz="1350" dirty="0">
                <a:solidFill>
                  <a:srgbClr val="1C2733"/>
                </a:solidFill>
                <a:latin typeface="Calibri" pitchFamily="34" charset="0"/>
                <a:ea typeface="Calibri" pitchFamily="34" charset="-122"/>
                <a:cs typeface="Calibri" pitchFamily="34" charset="-120"/>
              </a:rPr>
              <a:t>seaborn -- distribution &amp; correlation charts</a:t>
            </a:r>
            <a:endParaRPr lang="en-US" sz="1350" dirty="0"/>
          </a:p>
        </p:txBody>
      </p:sp>
      <p:sp>
        <p:nvSpPr>
          <p:cNvPr id="9" name="Shape 5"/>
          <p:cNvSpPr/>
          <p:nvPr/>
        </p:nvSpPr>
        <p:spPr>
          <a:xfrm>
            <a:off x="6858000" y="4114800"/>
            <a:ext cx="4572000" cy="1691640"/>
          </a:xfrm>
          <a:prstGeom prst="roundRect">
            <a:avLst>
              <a:gd name="adj" fmla="val 5405"/>
            </a:avLst>
          </a:prstGeom>
          <a:solidFill>
            <a:srgbClr val="132238"/>
          </a:solidFill>
          <a:ln/>
          <a:effectLst>
            <a:outerShdw sx="100000" sy="100000" kx="0" ky="0" algn="bl" rotWithShape="0" blurRad="101600" dist="38100" dir="2700000">
              <a:srgbClr val="0F1826">
                <a:alpha val="18000"/>
              </a:srgbClr>
            </a:outerShdw>
          </a:effectLst>
        </p:spPr>
      </p:sp>
      <p:sp>
        <p:nvSpPr>
          <p:cNvPr id="10" name="Text 6"/>
          <p:cNvSpPr/>
          <p:nvPr/>
        </p:nvSpPr>
        <p:spPr>
          <a:xfrm>
            <a:off x="7132320" y="4251960"/>
            <a:ext cx="4023360" cy="1463040"/>
          </a:xfrm>
          <a:prstGeom prst="rect">
            <a:avLst/>
          </a:prstGeom>
          <a:noFill/>
          <a:ln/>
        </p:spPr>
        <p:txBody>
          <a:bodyPr wrap="square"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Date range: 2024-01-02 → 2026-01-01</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9,414 total daily observations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No machine learning at any stage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project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METHODOLOGY</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The seven-step pipeline</a:t>
            </a:r>
            <a:endParaRPr lang="en-US" sz="2700" dirty="0"/>
          </a:p>
        </p:txBody>
      </p:sp>
      <p:sp>
        <p:nvSpPr>
          <p:cNvPr id="6" name="Shape 3"/>
          <p:cNvSpPr/>
          <p:nvPr/>
        </p:nvSpPr>
        <p:spPr>
          <a:xfrm>
            <a:off x="594360" y="2286000"/>
            <a:ext cx="1536192" cy="2148840"/>
          </a:xfrm>
          <a:prstGeom prst="roundRect">
            <a:avLst>
              <a:gd name="adj" fmla="val 5952"/>
            </a:avLst>
          </a:prstGeom>
          <a:solidFill>
            <a:srgbClr val="FFFFFF"/>
          </a:solidFill>
          <a:ln/>
          <a:effectLst>
            <a:outerShdw sx="100000" sy="100000" kx="0" ky="0" algn="bl" rotWithShape="0" blurRad="101600" dist="38100" dir="2700000">
              <a:srgbClr val="0F1826">
                <a:alpha val="18000"/>
              </a:srgbClr>
            </a:outerShdw>
          </a:effectLst>
        </p:spPr>
      </p:sp>
      <p:sp>
        <p:nvSpPr>
          <p:cNvPr id="7" name="Text 4"/>
          <p:cNvSpPr/>
          <p:nvPr/>
        </p:nvSpPr>
        <p:spPr>
          <a:xfrm>
            <a:off x="594360" y="2423160"/>
            <a:ext cx="1536192" cy="457200"/>
          </a:xfrm>
          <a:prstGeom prst="rect">
            <a:avLst/>
          </a:prstGeom>
          <a:noFill/>
          <a:ln/>
        </p:spPr>
        <p:txBody>
          <a:bodyPr wrap="square" lIns="0" tIns="0" rIns="0" bIns="0" rtlCol="0" anchor="ctr"/>
          <a:lstStyle/>
          <a:p>
            <a:pPr algn="ctr" indent="0" marL="0">
              <a:buNone/>
            </a:pPr>
            <a:r>
              <a:rPr lang="en-US" sz="2200" b="1" dirty="0">
                <a:solidFill>
                  <a:srgbClr val="132238"/>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667512" y="2907792"/>
            <a:ext cx="1389888" cy="320040"/>
          </a:xfrm>
          <a:prstGeom prst="rect">
            <a:avLst/>
          </a:prstGeom>
          <a:noFill/>
          <a:ln/>
        </p:spPr>
        <p:txBody>
          <a:bodyPr wrap="square" lIns="0" tIns="0" rIns="0" bIns="0" rtlCol="0" anchor="ctr"/>
          <a:lstStyle/>
          <a:p>
            <a:pPr algn="ctr" indent="0" marL="0">
              <a:buNone/>
            </a:pPr>
            <a:r>
              <a:rPr lang="en-US" sz="1300" b="1" dirty="0">
                <a:solidFill>
                  <a:srgbClr val="132238"/>
                </a:solidFill>
                <a:latin typeface="Calibri" pitchFamily="34" charset="0"/>
                <a:ea typeface="Calibri" pitchFamily="34" charset="-122"/>
                <a:cs typeface="Calibri" pitchFamily="34" charset="-120"/>
              </a:rPr>
              <a:t>Load</a:t>
            </a:r>
            <a:endParaRPr lang="en-US" sz="1300" dirty="0"/>
          </a:p>
        </p:txBody>
      </p:sp>
      <p:sp>
        <p:nvSpPr>
          <p:cNvPr id="9" name="Text 6"/>
          <p:cNvSpPr/>
          <p:nvPr/>
        </p:nvSpPr>
        <p:spPr>
          <a:xfrm>
            <a:off x="685800" y="3246120"/>
            <a:ext cx="1353312" cy="10515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Read each stock's CSV into a DataFrame</a:t>
            </a:r>
            <a:endParaRPr lang="en-US" sz="1000" dirty="0"/>
          </a:p>
        </p:txBody>
      </p:sp>
      <p:sp>
        <p:nvSpPr>
          <p:cNvPr id="10" name="Shape 7"/>
          <p:cNvSpPr/>
          <p:nvPr/>
        </p:nvSpPr>
        <p:spPr>
          <a:xfrm>
            <a:off x="2258568" y="2606040"/>
            <a:ext cx="1536192" cy="2148840"/>
          </a:xfrm>
          <a:prstGeom prst="roundRect">
            <a:avLst>
              <a:gd name="adj" fmla="val 5952"/>
            </a:avLst>
          </a:prstGeom>
          <a:solidFill>
            <a:srgbClr val="132238"/>
          </a:solidFill>
          <a:ln/>
          <a:effectLst>
            <a:outerShdw sx="100000" sy="100000" kx="0" ky="0" algn="bl" rotWithShape="0" blurRad="101600" dist="38100" dir="2700000">
              <a:srgbClr val="0F1826">
                <a:alpha val="18000"/>
              </a:srgbClr>
            </a:outerShdw>
          </a:effectLst>
        </p:spPr>
      </p:sp>
      <p:sp>
        <p:nvSpPr>
          <p:cNvPr id="11" name="Text 8"/>
          <p:cNvSpPr/>
          <p:nvPr/>
        </p:nvSpPr>
        <p:spPr>
          <a:xfrm>
            <a:off x="2258568" y="2743200"/>
            <a:ext cx="1536192" cy="457200"/>
          </a:xfrm>
          <a:prstGeom prst="rect">
            <a:avLst/>
          </a:prstGeom>
          <a:noFill/>
          <a:ln/>
        </p:spPr>
        <p:txBody>
          <a:bodyPr wrap="square" lIns="0" tIns="0" rIns="0" bIns="0" rtlCol="0" anchor="ctr"/>
          <a:lstStyle/>
          <a:p>
            <a:pPr algn="ctr" indent="0" marL="0">
              <a:buNone/>
            </a:pPr>
            <a:r>
              <a:rPr lang="en-US" sz="2200" b="1" dirty="0">
                <a:solidFill>
                  <a:srgbClr val="D9A94F"/>
                </a:solidFill>
                <a:latin typeface="Cambria" pitchFamily="34" charset="0"/>
                <a:ea typeface="Cambria" pitchFamily="34" charset="-122"/>
                <a:cs typeface="Cambria" pitchFamily="34" charset="-120"/>
              </a:rPr>
              <a:t>02</a:t>
            </a:r>
            <a:endParaRPr lang="en-US" sz="2200" dirty="0"/>
          </a:p>
        </p:txBody>
      </p:sp>
      <p:sp>
        <p:nvSpPr>
          <p:cNvPr id="12" name="Text 9"/>
          <p:cNvSpPr/>
          <p:nvPr/>
        </p:nvSpPr>
        <p:spPr>
          <a:xfrm>
            <a:off x="2331720" y="3227832"/>
            <a:ext cx="1389888"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Clean</a:t>
            </a:r>
            <a:endParaRPr lang="en-US" sz="1300" dirty="0"/>
          </a:p>
        </p:txBody>
      </p:sp>
      <p:sp>
        <p:nvSpPr>
          <p:cNvPr id="13" name="Text 10"/>
          <p:cNvSpPr/>
          <p:nvPr/>
        </p:nvSpPr>
        <p:spPr>
          <a:xfrm>
            <a:off x="2350008" y="3566160"/>
            <a:ext cx="1353312" cy="1051560"/>
          </a:xfrm>
          <a:prstGeom prst="rect">
            <a:avLst/>
          </a:prstGeom>
          <a:noFill/>
          <a:ln/>
        </p:spPr>
        <p:txBody>
          <a:bodyPr wrap="square" lIns="0" tIns="0" rIns="0" bIns="0" rtlCol="0" anchor="ctr"/>
          <a:lstStyle/>
          <a:p>
            <a:pPr algn="ctr" indent="0" marL="0">
              <a:buNone/>
            </a:pPr>
            <a:r>
              <a:rPr lang="en-US" sz="1000" dirty="0">
                <a:solidFill>
                  <a:srgbClr val="C9D4E0"/>
                </a:solidFill>
                <a:latin typeface="Calibri" pitchFamily="34" charset="0"/>
                <a:ea typeface="Calibri" pitchFamily="34" charset="-122"/>
                <a:cs typeface="Calibri" pitchFamily="34" charset="-120"/>
              </a:rPr>
              <a:t>Sort, de-duplicate, forward-fill gaps</a:t>
            </a:r>
            <a:endParaRPr lang="en-US" sz="1000" dirty="0"/>
          </a:p>
        </p:txBody>
      </p:sp>
      <p:sp>
        <p:nvSpPr>
          <p:cNvPr id="14" name="Shape 11"/>
          <p:cNvSpPr/>
          <p:nvPr/>
        </p:nvSpPr>
        <p:spPr>
          <a:xfrm>
            <a:off x="3922776" y="2286000"/>
            <a:ext cx="1536192" cy="2148840"/>
          </a:xfrm>
          <a:prstGeom prst="roundRect">
            <a:avLst>
              <a:gd name="adj" fmla="val 5952"/>
            </a:avLst>
          </a:prstGeom>
          <a:solidFill>
            <a:srgbClr val="FFFFFF"/>
          </a:solidFill>
          <a:ln/>
          <a:effectLst>
            <a:outerShdw sx="100000" sy="100000" kx="0" ky="0" algn="bl" rotWithShape="0" blurRad="101600" dist="38100" dir="2700000">
              <a:srgbClr val="0F1826">
                <a:alpha val="18000"/>
              </a:srgbClr>
            </a:outerShdw>
          </a:effectLst>
        </p:spPr>
      </p:sp>
      <p:sp>
        <p:nvSpPr>
          <p:cNvPr id="15" name="Text 12"/>
          <p:cNvSpPr/>
          <p:nvPr/>
        </p:nvSpPr>
        <p:spPr>
          <a:xfrm>
            <a:off x="3922776" y="2423160"/>
            <a:ext cx="1536192" cy="457200"/>
          </a:xfrm>
          <a:prstGeom prst="rect">
            <a:avLst/>
          </a:prstGeom>
          <a:noFill/>
          <a:ln/>
        </p:spPr>
        <p:txBody>
          <a:bodyPr wrap="square" lIns="0" tIns="0" rIns="0" bIns="0" rtlCol="0" anchor="ctr"/>
          <a:lstStyle/>
          <a:p>
            <a:pPr algn="ctr" indent="0" marL="0">
              <a:buNone/>
            </a:pPr>
            <a:r>
              <a:rPr lang="en-US" sz="2200" b="1" dirty="0">
                <a:solidFill>
                  <a:srgbClr val="132238"/>
                </a:solidFill>
                <a:latin typeface="Cambria" pitchFamily="34" charset="0"/>
                <a:ea typeface="Cambria" pitchFamily="34" charset="-122"/>
                <a:cs typeface="Cambria" pitchFamily="34" charset="-120"/>
              </a:rPr>
              <a:t>03</a:t>
            </a:r>
            <a:endParaRPr lang="en-US" sz="2200" dirty="0"/>
          </a:p>
        </p:txBody>
      </p:sp>
      <p:sp>
        <p:nvSpPr>
          <p:cNvPr id="16" name="Text 13"/>
          <p:cNvSpPr/>
          <p:nvPr/>
        </p:nvSpPr>
        <p:spPr>
          <a:xfrm>
            <a:off x="3995928" y="2907792"/>
            <a:ext cx="1389888" cy="320040"/>
          </a:xfrm>
          <a:prstGeom prst="rect">
            <a:avLst/>
          </a:prstGeom>
          <a:noFill/>
          <a:ln/>
        </p:spPr>
        <p:txBody>
          <a:bodyPr wrap="square" lIns="0" tIns="0" rIns="0" bIns="0" rtlCol="0" anchor="ctr"/>
          <a:lstStyle/>
          <a:p>
            <a:pPr algn="ctr" indent="0" marL="0">
              <a:buNone/>
            </a:pPr>
            <a:r>
              <a:rPr lang="en-US" sz="1300" b="1" dirty="0">
                <a:solidFill>
                  <a:srgbClr val="132238"/>
                </a:solidFill>
                <a:latin typeface="Calibri" pitchFamily="34" charset="0"/>
                <a:ea typeface="Calibri" pitchFamily="34" charset="-122"/>
                <a:cs typeface="Calibri" pitchFamily="34" charset="-120"/>
              </a:rPr>
              <a:t>Returns</a:t>
            </a:r>
            <a:endParaRPr lang="en-US" sz="1300" dirty="0"/>
          </a:p>
        </p:txBody>
      </p:sp>
      <p:sp>
        <p:nvSpPr>
          <p:cNvPr id="17" name="Text 14"/>
          <p:cNvSpPr/>
          <p:nvPr/>
        </p:nvSpPr>
        <p:spPr>
          <a:xfrm>
            <a:off x="4014216" y="3246120"/>
            <a:ext cx="1353312" cy="10515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Simple &amp; log daily returns from Close</a:t>
            </a:r>
            <a:endParaRPr lang="en-US" sz="1000" dirty="0"/>
          </a:p>
        </p:txBody>
      </p:sp>
      <p:sp>
        <p:nvSpPr>
          <p:cNvPr id="18" name="Shape 15"/>
          <p:cNvSpPr/>
          <p:nvPr/>
        </p:nvSpPr>
        <p:spPr>
          <a:xfrm>
            <a:off x="5586984" y="2606040"/>
            <a:ext cx="1536192" cy="2148840"/>
          </a:xfrm>
          <a:prstGeom prst="roundRect">
            <a:avLst>
              <a:gd name="adj" fmla="val 5952"/>
            </a:avLst>
          </a:prstGeom>
          <a:solidFill>
            <a:srgbClr val="132238"/>
          </a:solidFill>
          <a:ln/>
          <a:effectLst>
            <a:outerShdw sx="100000" sy="100000" kx="0" ky="0" algn="bl" rotWithShape="0" blurRad="101600" dist="38100" dir="2700000">
              <a:srgbClr val="0F1826">
                <a:alpha val="18000"/>
              </a:srgbClr>
            </a:outerShdw>
          </a:effectLst>
        </p:spPr>
      </p:sp>
      <p:sp>
        <p:nvSpPr>
          <p:cNvPr id="19" name="Text 16"/>
          <p:cNvSpPr/>
          <p:nvPr/>
        </p:nvSpPr>
        <p:spPr>
          <a:xfrm>
            <a:off x="5586984" y="2743200"/>
            <a:ext cx="1536192" cy="457200"/>
          </a:xfrm>
          <a:prstGeom prst="rect">
            <a:avLst/>
          </a:prstGeom>
          <a:noFill/>
          <a:ln/>
        </p:spPr>
        <p:txBody>
          <a:bodyPr wrap="square" lIns="0" tIns="0" rIns="0" bIns="0" rtlCol="0" anchor="ctr"/>
          <a:lstStyle/>
          <a:p>
            <a:pPr algn="ctr" indent="0" marL="0">
              <a:buNone/>
            </a:pPr>
            <a:r>
              <a:rPr lang="en-US" sz="2200" b="1" dirty="0">
                <a:solidFill>
                  <a:srgbClr val="D9A94F"/>
                </a:solidFill>
                <a:latin typeface="Cambria" pitchFamily="34" charset="0"/>
                <a:ea typeface="Cambria" pitchFamily="34" charset="-122"/>
                <a:cs typeface="Cambria" pitchFamily="34" charset="-120"/>
              </a:rPr>
              <a:t>04</a:t>
            </a:r>
            <a:endParaRPr lang="en-US" sz="2200" dirty="0"/>
          </a:p>
        </p:txBody>
      </p:sp>
      <p:sp>
        <p:nvSpPr>
          <p:cNvPr id="20" name="Text 17"/>
          <p:cNvSpPr/>
          <p:nvPr/>
        </p:nvSpPr>
        <p:spPr>
          <a:xfrm>
            <a:off x="5660136" y="3227832"/>
            <a:ext cx="1389888"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Indicators</a:t>
            </a:r>
            <a:endParaRPr lang="en-US" sz="1300" dirty="0"/>
          </a:p>
        </p:txBody>
      </p:sp>
      <p:sp>
        <p:nvSpPr>
          <p:cNvPr id="21" name="Text 18"/>
          <p:cNvSpPr/>
          <p:nvPr/>
        </p:nvSpPr>
        <p:spPr>
          <a:xfrm>
            <a:off x="5678424" y="3566160"/>
            <a:ext cx="1353312" cy="1051560"/>
          </a:xfrm>
          <a:prstGeom prst="rect">
            <a:avLst/>
          </a:prstGeom>
          <a:noFill/>
          <a:ln/>
        </p:spPr>
        <p:txBody>
          <a:bodyPr wrap="square" lIns="0" tIns="0" rIns="0" bIns="0" rtlCol="0" anchor="ctr"/>
          <a:lstStyle/>
          <a:p>
            <a:pPr algn="ctr" indent="0" marL="0">
              <a:buNone/>
            </a:pPr>
            <a:r>
              <a:rPr lang="en-US" sz="1000" dirty="0">
                <a:solidFill>
                  <a:srgbClr val="C9D4E0"/>
                </a:solidFill>
                <a:latin typeface="Calibri" pitchFamily="34" charset="0"/>
                <a:ea typeface="Calibri" pitchFamily="34" charset="-122"/>
                <a:cs typeface="Calibri" pitchFamily="34" charset="-120"/>
              </a:rPr>
              <a:t>SMA, EMA, RSI, volatility -- manual</a:t>
            </a:r>
            <a:endParaRPr lang="en-US" sz="1000" dirty="0"/>
          </a:p>
        </p:txBody>
      </p:sp>
      <p:sp>
        <p:nvSpPr>
          <p:cNvPr id="22" name="Shape 19"/>
          <p:cNvSpPr/>
          <p:nvPr/>
        </p:nvSpPr>
        <p:spPr>
          <a:xfrm>
            <a:off x="7251192" y="2286000"/>
            <a:ext cx="1536192" cy="2148840"/>
          </a:xfrm>
          <a:prstGeom prst="roundRect">
            <a:avLst>
              <a:gd name="adj" fmla="val 5952"/>
            </a:avLst>
          </a:prstGeom>
          <a:solidFill>
            <a:srgbClr val="FFFFFF"/>
          </a:solidFill>
          <a:ln/>
          <a:effectLst>
            <a:outerShdw sx="100000" sy="100000" kx="0" ky="0" algn="bl" rotWithShape="0" blurRad="101600" dist="38100" dir="2700000">
              <a:srgbClr val="0F1826">
                <a:alpha val="18000"/>
              </a:srgbClr>
            </a:outerShdw>
          </a:effectLst>
        </p:spPr>
      </p:sp>
      <p:sp>
        <p:nvSpPr>
          <p:cNvPr id="23" name="Text 20"/>
          <p:cNvSpPr/>
          <p:nvPr/>
        </p:nvSpPr>
        <p:spPr>
          <a:xfrm>
            <a:off x="7251192" y="2423160"/>
            <a:ext cx="1536192" cy="457200"/>
          </a:xfrm>
          <a:prstGeom prst="rect">
            <a:avLst/>
          </a:prstGeom>
          <a:noFill/>
          <a:ln/>
        </p:spPr>
        <p:txBody>
          <a:bodyPr wrap="square" lIns="0" tIns="0" rIns="0" bIns="0" rtlCol="0" anchor="ctr"/>
          <a:lstStyle/>
          <a:p>
            <a:pPr algn="ctr" indent="0" marL="0">
              <a:buNone/>
            </a:pPr>
            <a:r>
              <a:rPr lang="en-US" sz="2200" b="1" dirty="0">
                <a:solidFill>
                  <a:srgbClr val="132238"/>
                </a:solidFill>
                <a:latin typeface="Cambria" pitchFamily="34" charset="0"/>
                <a:ea typeface="Cambria" pitchFamily="34" charset="-122"/>
                <a:cs typeface="Cambria" pitchFamily="34" charset="-120"/>
              </a:rPr>
              <a:t>05</a:t>
            </a:r>
            <a:endParaRPr lang="en-US" sz="2200" dirty="0"/>
          </a:p>
        </p:txBody>
      </p:sp>
      <p:sp>
        <p:nvSpPr>
          <p:cNvPr id="24" name="Text 21"/>
          <p:cNvSpPr/>
          <p:nvPr/>
        </p:nvSpPr>
        <p:spPr>
          <a:xfrm>
            <a:off x="7324344" y="2907792"/>
            <a:ext cx="1389888" cy="320040"/>
          </a:xfrm>
          <a:prstGeom prst="rect">
            <a:avLst/>
          </a:prstGeom>
          <a:noFill/>
          <a:ln/>
        </p:spPr>
        <p:txBody>
          <a:bodyPr wrap="square" lIns="0" tIns="0" rIns="0" bIns="0" rtlCol="0" anchor="ctr"/>
          <a:lstStyle/>
          <a:p>
            <a:pPr algn="ctr" indent="0" marL="0">
              <a:buNone/>
            </a:pPr>
            <a:r>
              <a:rPr lang="en-US" sz="1300" b="1" dirty="0">
                <a:solidFill>
                  <a:srgbClr val="132238"/>
                </a:solidFill>
                <a:latin typeface="Calibri" pitchFamily="34" charset="0"/>
                <a:ea typeface="Calibri" pitchFamily="34" charset="-122"/>
                <a:cs typeface="Calibri" pitchFamily="34" charset="-120"/>
              </a:rPr>
              <a:t>Aggregate</a:t>
            </a:r>
            <a:endParaRPr lang="en-US" sz="1300" dirty="0"/>
          </a:p>
        </p:txBody>
      </p:sp>
      <p:sp>
        <p:nvSpPr>
          <p:cNvPr id="25" name="Text 22"/>
          <p:cNvSpPr/>
          <p:nvPr/>
        </p:nvSpPr>
        <p:spPr>
          <a:xfrm>
            <a:off x="7342632" y="3246120"/>
            <a:ext cx="1353312" cy="10515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Combine 18 stocks into sector-level views</a:t>
            </a:r>
            <a:endParaRPr lang="en-US" sz="1000" dirty="0"/>
          </a:p>
        </p:txBody>
      </p:sp>
      <p:sp>
        <p:nvSpPr>
          <p:cNvPr id="26" name="Shape 23"/>
          <p:cNvSpPr/>
          <p:nvPr/>
        </p:nvSpPr>
        <p:spPr>
          <a:xfrm>
            <a:off x="8915400" y="2606040"/>
            <a:ext cx="1536192" cy="2148840"/>
          </a:xfrm>
          <a:prstGeom prst="roundRect">
            <a:avLst>
              <a:gd name="adj" fmla="val 5952"/>
            </a:avLst>
          </a:prstGeom>
          <a:solidFill>
            <a:srgbClr val="132238"/>
          </a:solidFill>
          <a:ln/>
          <a:effectLst>
            <a:outerShdw sx="100000" sy="100000" kx="0" ky="0" algn="bl" rotWithShape="0" blurRad="101600" dist="38100" dir="2700000">
              <a:srgbClr val="0F1826">
                <a:alpha val="18000"/>
              </a:srgbClr>
            </a:outerShdw>
          </a:effectLst>
        </p:spPr>
      </p:sp>
      <p:sp>
        <p:nvSpPr>
          <p:cNvPr id="27" name="Text 24"/>
          <p:cNvSpPr/>
          <p:nvPr/>
        </p:nvSpPr>
        <p:spPr>
          <a:xfrm>
            <a:off x="8915400" y="2743200"/>
            <a:ext cx="1536192" cy="457200"/>
          </a:xfrm>
          <a:prstGeom prst="rect">
            <a:avLst/>
          </a:prstGeom>
          <a:noFill/>
          <a:ln/>
        </p:spPr>
        <p:txBody>
          <a:bodyPr wrap="square" lIns="0" tIns="0" rIns="0" bIns="0" rtlCol="0" anchor="ctr"/>
          <a:lstStyle/>
          <a:p>
            <a:pPr algn="ctr" indent="0" marL="0">
              <a:buNone/>
            </a:pPr>
            <a:r>
              <a:rPr lang="en-US" sz="2200" b="1" dirty="0">
                <a:solidFill>
                  <a:srgbClr val="D9A94F"/>
                </a:solidFill>
                <a:latin typeface="Cambria" pitchFamily="34" charset="0"/>
                <a:ea typeface="Cambria" pitchFamily="34" charset="-122"/>
                <a:cs typeface="Cambria" pitchFamily="34" charset="-120"/>
              </a:rPr>
              <a:t>06</a:t>
            </a:r>
            <a:endParaRPr lang="en-US" sz="2200" dirty="0"/>
          </a:p>
        </p:txBody>
      </p:sp>
      <p:sp>
        <p:nvSpPr>
          <p:cNvPr id="28" name="Text 25"/>
          <p:cNvSpPr/>
          <p:nvPr/>
        </p:nvSpPr>
        <p:spPr>
          <a:xfrm>
            <a:off x="8988552" y="3227832"/>
            <a:ext cx="1389888"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Visualize</a:t>
            </a:r>
            <a:endParaRPr lang="en-US" sz="1300" dirty="0"/>
          </a:p>
        </p:txBody>
      </p:sp>
      <p:sp>
        <p:nvSpPr>
          <p:cNvPr id="29" name="Text 26"/>
          <p:cNvSpPr/>
          <p:nvPr/>
        </p:nvSpPr>
        <p:spPr>
          <a:xfrm>
            <a:off x="9006840" y="3566160"/>
            <a:ext cx="1353312" cy="1051560"/>
          </a:xfrm>
          <a:prstGeom prst="rect">
            <a:avLst/>
          </a:prstGeom>
          <a:noFill/>
          <a:ln/>
        </p:spPr>
        <p:txBody>
          <a:bodyPr wrap="square" lIns="0" tIns="0" rIns="0" bIns="0" rtlCol="0" anchor="ctr"/>
          <a:lstStyle/>
          <a:p>
            <a:pPr algn="ctr" indent="0" marL="0">
              <a:buNone/>
            </a:pPr>
            <a:r>
              <a:rPr lang="en-US" sz="1000" dirty="0">
                <a:solidFill>
                  <a:srgbClr val="C9D4E0"/>
                </a:solidFill>
                <a:latin typeface="Calibri" pitchFamily="34" charset="0"/>
                <a:ea typeface="Calibri" pitchFamily="34" charset="-122"/>
                <a:cs typeface="Calibri" pitchFamily="34" charset="-120"/>
              </a:rPr>
              <a:t>Matplotlib: price, trend, RSI bands</a:t>
            </a:r>
            <a:endParaRPr lang="en-US" sz="1000" dirty="0"/>
          </a:p>
        </p:txBody>
      </p:sp>
      <p:sp>
        <p:nvSpPr>
          <p:cNvPr id="30" name="Shape 27"/>
          <p:cNvSpPr/>
          <p:nvPr/>
        </p:nvSpPr>
        <p:spPr>
          <a:xfrm>
            <a:off x="10579608" y="2286000"/>
            <a:ext cx="1536192" cy="2148840"/>
          </a:xfrm>
          <a:prstGeom prst="roundRect">
            <a:avLst>
              <a:gd name="adj" fmla="val 5952"/>
            </a:avLst>
          </a:prstGeom>
          <a:solidFill>
            <a:srgbClr val="FFFFFF"/>
          </a:solidFill>
          <a:ln/>
          <a:effectLst>
            <a:outerShdw sx="100000" sy="100000" kx="0" ky="0" algn="bl" rotWithShape="0" blurRad="101600" dist="38100" dir="2700000">
              <a:srgbClr val="0F1826">
                <a:alpha val="18000"/>
              </a:srgbClr>
            </a:outerShdw>
          </a:effectLst>
        </p:spPr>
      </p:sp>
      <p:sp>
        <p:nvSpPr>
          <p:cNvPr id="31" name="Text 28"/>
          <p:cNvSpPr/>
          <p:nvPr/>
        </p:nvSpPr>
        <p:spPr>
          <a:xfrm>
            <a:off x="10579608" y="2423160"/>
            <a:ext cx="1536192" cy="457200"/>
          </a:xfrm>
          <a:prstGeom prst="rect">
            <a:avLst/>
          </a:prstGeom>
          <a:noFill/>
          <a:ln/>
        </p:spPr>
        <p:txBody>
          <a:bodyPr wrap="square" lIns="0" tIns="0" rIns="0" bIns="0" rtlCol="0" anchor="ctr"/>
          <a:lstStyle/>
          <a:p>
            <a:pPr algn="ctr" indent="0" marL="0">
              <a:buNone/>
            </a:pPr>
            <a:r>
              <a:rPr lang="en-US" sz="2200" b="1" dirty="0">
                <a:solidFill>
                  <a:srgbClr val="132238"/>
                </a:solidFill>
                <a:latin typeface="Cambria" pitchFamily="34" charset="0"/>
                <a:ea typeface="Cambria" pitchFamily="34" charset="-122"/>
                <a:cs typeface="Cambria" pitchFamily="34" charset="-120"/>
              </a:rPr>
              <a:t>07</a:t>
            </a:r>
            <a:endParaRPr lang="en-US" sz="2200" dirty="0"/>
          </a:p>
        </p:txBody>
      </p:sp>
      <p:sp>
        <p:nvSpPr>
          <p:cNvPr id="32" name="Text 29"/>
          <p:cNvSpPr/>
          <p:nvPr/>
        </p:nvSpPr>
        <p:spPr>
          <a:xfrm>
            <a:off x="10652760" y="2907792"/>
            <a:ext cx="1389888" cy="320040"/>
          </a:xfrm>
          <a:prstGeom prst="rect">
            <a:avLst/>
          </a:prstGeom>
          <a:noFill/>
          <a:ln/>
        </p:spPr>
        <p:txBody>
          <a:bodyPr wrap="square" lIns="0" tIns="0" rIns="0" bIns="0" rtlCol="0" anchor="ctr"/>
          <a:lstStyle/>
          <a:p>
            <a:pPr algn="ctr" indent="0" marL="0">
              <a:buNone/>
            </a:pPr>
            <a:r>
              <a:rPr lang="en-US" sz="1300" b="1" dirty="0">
                <a:solidFill>
                  <a:srgbClr val="132238"/>
                </a:solidFill>
                <a:latin typeface="Calibri" pitchFamily="34" charset="0"/>
                <a:ea typeface="Calibri" pitchFamily="34" charset="-122"/>
                <a:cs typeface="Calibri" pitchFamily="34" charset="-120"/>
              </a:rPr>
              <a:t>Correlate</a:t>
            </a:r>
            <a:endParaRPr lang="en-US" sz="1300" dirty="0"/>
          </a:p>
        </p:txBody>
      </p:sp>
      <p:sp>
        <p:nvSpPr>
          <p:cNvPr id="33" name="Text 30"/>
          <p:cNvSpPr/>
          <p:nvPr/>
        </p:nvSpPr>
        <p:spPr>
          <a:xfrm>
            <a:off x="10671048" y="3246120"/>
            <a:ext cx="1353312" cy="1051560"/>
          </a:xfrm>
          <a:prstGeom prst="rect">
            <a:avLst/>
          </a:prstGeom>
          <a:noFill/>
          <a:ln/>
        </p:spPr>
        <p:txBody>
          <a:bodyPr wrap="square" lIns="0" tIns="0" rIns="0" bIns="0" rtlCol="0" anchor="ctr"/>
          <a:lstStyle/>
          <a:p>
            <a:pPr algn="ctr" indent="0" marL="0">
              <a:buNone/>
            </a:pPr>
            <a:r>
              <a:rPr lang="en-US" sz="1000" dirty="0">
                <a:solidFill>
                  <a:srgbClr val="5B6B7C"/>
                </a:solidFill>
                <a:latin typeface="Calibri" pitchFamily="34" charset="0"/>
                <a:ea typeface="Calibri" pitchFamily="34" charset="-122"/>
                <a:cs typeface="Calibri" pitchFamily="34" charset="-120"/>
              </a:rPr>
              <a:t>Seaborn: distribution &amp; correlation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formula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CORE FORMULAS</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Every indicator, implemented manually</a:t>
            </a:r>
            <a:endParaRPr lang="en-US" sz="2700" dirty="0"/>
          </a:p>
        </p:txBody>
      </p:sp>
      <p:sp>
        <p:nvSpPr>
          <p:cNvPr id="6" name="Shape 3"/>
          <p:cNvSpPr/>
          <p:nvPr/>
        </p:nvSpPr>
        <p:spPr>
          <a:xfrm>
            <a:off x="822960" y="1645920"/>
            <a:ext cx="5074920" cy="1691640"/>
          </a:xfrm>
          <a:prstGeom prst="roundRect">
            <a:avLst>
              <a:gd name="adj" fmla="val 5405"/>
            </a:avLst>
          </a:prstGeom>
          <a:solidFill>
            <a:srgbClr val="FFFFFF"/>
          </a:solidFill>
          <a:ln/>
          <a:effectLst>
            <a:outerShdw sx="100000" sy="100000" kx="0" ky="0" algn="bl" rotWithShape="0" blurRad="101600" dist="38100" dir="2700000">
              <a:srgbClr val="0F1826">
                <a:alpha val="18000"/>
              </a:srgbClr>
            </a:outerShdw>
          </a:effectLst>
        </p:spPr>
      </p:sp>
      <p:sp>
        <p:nvSpPr>
          <p:cNvPr id="7" name="Shape 4"/>
          <p:cNvSpPr/>
          <p:nvPr/>
        </p:nvSpPr>
        <p:spPr>
          <a:xfrm>
            <a:off x="1051560" y="1874520"/>
            <a:ext cx="640080" cy="640080"/>
          </a:xfrm>
          <a:prstGeom prst="ellipse">
            <a:avLst/>
          </a:prstGeom>
          <a:solidFill>
            <a:srgbClr val="D9A94F"/>
          </a:solidFill>
          <a:ln/>
        </p:spPr>
      </p:sp>
      <p:sp>
        <p:nvSpPr>
          <p:cNvPr id="8" name="Text 5"/>
          <p:cNvSpPr/>
          <p:nvPr/>
        </p:nvSpPr>
        <p:spPr>
          <a:xfrm>
            <a:off x="105156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SMA</a:t>
            </a:r>
            <a:endParaRPr lang="en-US" sz="1600" dirty="0"/>
          </a:p>
        </p:txBody>
      </p:sp>
      <p:sp>
        <p:nvSpPr>
          <p:cNvPr id="9" name="Text 6"/>
          <p:cNvSpPr/>
          <p:nvPr/>
        </p:nvSpPr>
        <p:spPr>
          <a:xfrm>
            <a:off x="1828800" y="1828800"/>
            <a:ext cx="3886200" cy="365760"/>
          </a:xfrm>
          <a:prstGeom prst="rect">
            <a:avLst/>
          </a:prstGeom>
          <a:noFill/>
          <a:ln/>
        </p:spPr>
        <p:txBody>
          <a:bodyPr wrap="square" lIns="0" tIns="0" rIns="0" bIns="0" rtlCol="0" anchor="ctr"/>
          <a:lstStyle/>
          <a:p>
            <a:pPr indent="0" marL="0">
              <a:buNone/>
            </a:pPr>
            <a:r>
              <a:rPr lang="en-US" sz="1400" b="1" dirty="0">
                <a:solidFill>
                  <a:srgbClr val="132238"/>
                </a:solidFill>
                <a:latin typeface="Calibri" pitchFamily="34" charset="0"/>
                <a:ea typeface="Calibri" pitchFamily="34" charset="-122"/>
                <a:cs typeface="Calibri" pitchFamily="34" charset="-120"/>
              </a:rPr>
              <a:t>Simple Moving Average</a:t>
            </a:r>
            <a:endParaRPr lang="en-US" sz="1400" dirty="0"/>
          </a:p>
        </p:txBody>
      </p:sp>
      <p:sp>
        <p:nvSpPr>
          <p:cNvPr id="10" name="Text 7"/>
          <p:cNvSpPr/>
          <p:nvPr/>
        </p:nvSpPr>
        <p:spPr>
          <a:xfrm>
            <a:off x="1828800" y="2231136"/>
            <a:ext cx="3886200" cy="91440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Plain average of the last N closes</a:t>
            </a:r>
            <a:endParaRPr lang="en-US" sz="1200" dirty="0"/>
          </a:p>
        </p:txBody>
      </p:sp>
      <p:sp>
        <p:nvSpPr>
          <p:cNvPr id="11" name="Shape 8"/>
          <p:cNvSpPr/>
          <p:nvPr/>
        </p:nvSpPr>
        <p:spPr>
          <a:xfrm>
            <a:off x="6217920" y="1645920"/>
            <a:ext cx="5074920" cy="1691640"/>
          </a:xfrm>
          <a:prstGeom prst="roundRect">
            <a:avLst>
              <a:gd name="adj" fmla="val 5405"/>
            </a:avLst>
          </a:prstGeom>
          <a:solidFill>
            <a:srgbClr val="FFFFFF"/>
          </a:solidFill>
          <a:ln/>
          <a:effectLst>
            <a:outerShdw sx="100000" sy="100000" kx="0" ky="0" algn="bl" rotWithShape="0" blurRad="101600" dist="38100" dir="2700000">
              <a:srgbClr val="0F1826">
                <a:alpha val="18000"/>
              </a:srgbClr>
            </a:outerShdw>
          </a:effectLst>
        </p:spPr>
      </p:sp>
      <p:sp>
        <p:nvSpPr>
          <p:cNvPr id="12" name="Shape 9"/>
          <p:cNvSpPr/>
          <p:nvPr/>
        </p:nvSpPr>
        <p:spPr>
          <a:xfrm>
            <a:off x="6446520" y="1874520"/>
            <a:ext cx="640080" cy="640080"/>
          </a:xfrm>
          <a:prstGeom prst="ellipse">
            <a:avLst/>
          </a:prstGeom>
          <a:solidFill>
            <a:srgbClr val="2FBF9F"/>
          </a:solidFill>
          <a:ln/>
        </p:spPr>
      </p:sp>
      <p:sp>
        <p:nvSpPr>
          <p:cNvPr id="13" name="Text 10"/>
          <p:cNvSpPr/>
          <p:nvPr/>
        </p:nvSpPr>
        <p:spPr>
          <a:xfrm>
            <a:off x="644652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EMA</a:t>
            </a:r>
            <a:endParaRPr lang="en-US" sz="1600" dirty="0"/>
          </a:p>
        </p:txBody>
      </p:sp>
      <p:sp>
        <p:nvSpPr>
          <p:cNvPr id="14" name="Text 11"/>
          <p:cNvSpPr/>
          <p:nvPr/>
        </p:nvSpPr>
        <p:spPr>
          <a:xfrm>
            <a:off x="7223760" y="1828800"/>
            <a:ext cx="3886200" cy="365760"/>
          </a:xfrm>
          <a:prstGeom prst="rect">
            <a:avLst/>
          </a:prstGeom>
          <a:noFill/>
          <a:ln/>
        </p:spPr>
        <p:txBody>
          <a:bodyPr wrap="square" lIns="0" tIns="0" rIns="0" bIns="0" rtlCol="0" anchor="ctr"/>
          <a:lstStyle/>
          <a:p>
            <a:pPr indent="0" marL="0">
              <a:buNone/>
            </a:pPr>
            <a:r>
              <a:rPr lang="en-US" sz="1400" b="1" dirty="0">
                <a:solidFill>
                  <a:srgbClr val="132238"/>
                </a:solidFill>
                <a:latin typeface="Calibri" pitchFamily="34" charset="0"/>
                <a:ea typeface="Calibri" pitchFamily="34" charset="-122"/>
                <a:cs typeface="Calibri" pitchFamily="34" charset="-120"/>
              </a:rPr>
              <a:t>Exponential Moving Average</a:t>
            </a:r>
            <a:endParaRPr lang="en-US" sz="1400" dirty="0"/>
          </a:p>
        </p:txBody>
      </p:sp>
      <p:sp>
        <p:nvSpPr>
          <p:cNvPr id="15" name="Text 12"/>
          <p:cNvSpPr/>
          <p:nvPr/>
        </p:nvSpPr>
        <p:spPr>
          <a:xfrm>
            <a:off x="7223760" y="2231136"/>
            <a:ext cx="3886200" cy="91440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EMA_t = P_t · α + EMA_{t-1} · (1-α),  α = 2/(N+1)</a:t>
            </a:r>
            <a:endParaRPr lang="en-US" sz="1200" dirty="0"/>
          </a:p>
        </p:txBody>
      </p:sp>
      <p:sp>
        <p:nvSpPr>
          <p:cNvPr id="16" name="Shape 13"/>
          <p:cNvSpPr/>
          <p:nvPr/>
        </p:nvSpPr>
        <p:spPr>
          <a:xfrm>
            <a:off x="822960" y="3566160"/>
            <a:ext cx="5074920" cy="1691640"/>
          </a:xfrm>
          <a:prstGeom prst="roundRect">
            <a:avLst>
              <a:gd name="adj" fmla="val 5405"/>
            </a:avLst>
          </a:prstGeom>
          <a:solidFill>
            <a:srgbClr val="FFFFFF"/>
          </a:solidFill>
          <a:ln/>
          <a:effectLst>
            <a:outerShdw sx="100000" sy="100000" kx="0" ky="0" algn="bl" rotWithShape="0" blurRad="101600" dist="38100" dir="2700000">
              <a:srgbClr val="0F1826">
                <a:alpha val="18000"/>
              </a:srgbClr>
            </a:outerShdw>
          </a:effectLst>
        </p:spPr>
      </p:sp>
      <p:sp>
        <p:nvSpPr>
          <p:cNvPr id="17" name="Shape 14"/>
          <p:cNvSpPr/>
          <p:nvPr/>
        </p:nvSpPr>
        <p:spPr>
          <a:xfrm>
            <a:off x="1051560" y="3794760"/>
            <a:ext cx="640080" cy="640080"/>
          </a:xfrm>
          <a:prstGeom prst="ellipse">
            <a:avLst/>
          </a:prstGeom>
          <a:solidFill>
            <a:srgbClr val="132238"/>
          </a:solidFill>
          <a:ln/>
        </p:spPr>
      </p:sp>
      <p:sp>
        <p:nvSpPr>
          <p:cNvPr id="18" name="Text 15"/>
          <p:cNvSpPr/>
          <p:nvPr/>
        </p:nvSpPr>
        <p:spPr>
          <a:xfrm>
            <a:off x="1051560" y="3794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RSI</a:t>
            </a:r>
            <a:endParaRPr lang="en-US" sz="1600" dirty="0"/>
          </a:p>
        </p:txBody>
      </p:sp>
      <p:sp>
        <p:nvSpPr>
          <p:cNvPr id="19" name="Text 16"/>
          <p:cNvSpPr/>
          <p:nvPr/>
        </p:nvSpPr>
        <p:spPr>
          <a:xfrm>
            <a:off x="1828800" y="3749040"/>
            <a:ext cx="3886200" cy="365760"/>
          </a:xfrm>
          <a:prstGeom prst="rect">
            <a:avLst/>
          </a:prstGeom>
          <a:noFill/>
          <a:ln/>
        </p:spPr>
        <p:txBody>
          <a:bodyPr wrap="square" lIns="0" tIns="0" rIns="0" bIns="0" rtlCol="0" anchor="ctr"/>
          <a:lstStyle/>
          <a:p>
            <a:pPr indent="0" marL="0">
              <a:buNone/>
            </a:pPr>
            <a:r>
              <a:rPr lang="en-US" sz="1400" b="1" dirty="0">
                <a:solidFill>
                  <a:srgbClr val="132238"/>
                </a:solidFill>
                <a:latin typeface="Calibri" pitchFamily="34" charset="0"/>
                <a:ea typeface="Calibri" pitchFamily="34" charset="-122"/>
                <a:cs typeface="Calibri" pitchFamily="34" charset="-120"/>
              </a:rPr>
              <a:t>Relative Strength Index (Wilder)</a:t>
            </a:r>
            <a:endParaRPr lang="en-US" sz="1400" dirty="0"/>
          </a:p>
        </p:txBody>
      </p:sp>
      <p:sp>
        <p:nvSpPr>
          <p:cNvPr id="20" name="Text 17"/>
          <p:cNvSpPr/>
          <p:nvPr/>
        </p:nvSpPr>
        <p:spPr>
          <a:xfrm>
            <a:off x="1828800" y="4151376"/>
            <a:ext cx="3886200" cy="91440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RSI = 100 − 100/(1+RS),  RS = avg gain / avg loss</a:t>
            </a:r>
            <a:endParaRPr lang="en-US" sz="1200" dirty="0"/>
          </a:p>
        </p:txBody>
      </p:sp>
      <p:sp>
        <p:nvSpPr>
          <p:cNvPr id="21" name="Shape 18"/>
          <p:cNvSpPr/>
          <p:nvPr/>
        </p:nvSpPr>
        <p:spPr>
          <a:xfrm>
            <a:off x="6217920" y="3566160"/>
            <a:ext cx="5074920" cy="1691640"/>
          </a:xfrm>
          <a:prstGeom prst="roundRect">
            <a:avLst>
              <a:gd name="adj" fmla="val 5405"/>
            </a:avLst>
          </a:prstGeom>
          <a:solidFill>
            <a:srgbClr val="FFFFFF"/>
          </a:solidFill>
          <a:ln/>
          <a:effectLst>
            <a:outerShdw sx="100000" sy="100000" kx="0" ky="0" algn="bl" rotWithShape="0" blurRad="101600" dist="38100" dir="2700000">
              <a:srgbClr val="0F1826">
                <a:alpha val="18000"/>
              </a:srgbClr>
            </a:outerShdw>
          </a:effectLst>
        </p:spPr>
      </p:sp>
      <p:sp>
        <p:nvSpPr>
          <p:cNvPr id="22" name="Shape 19"/>
          <p:cNvSpPr/>
          <p:nvPr/>
        </p:nvSpPr>
        <p:spPr>
          <a:xfrm>
            <a:off x="6446520" y="3794760"/>
            <a:ext cx="640080" cy="640080"/>
          </a:xfrm>
          <a:prstGeom prst="ellipse">
            <a:avLst/>
          </a:prstGeom>
          <a:solidFill>
            <a:srgbClr val="8899AA"/>
          </a:solidFill>
          <a:ln/>
        </p:spPr>
      </p:sp>
      <p:sp>
        <p:nvSpPr>
          <p:cNvPr id="23" name="Text 20"/>
          <p:cNvSpPr/>
          <p:nvPr/>
        </p:nvSpPr>
        <p:spPr>
          <a:xfrm>
            <a:off x="6446520" y="3794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σ</a:t>
            </a:r>
            <a:endParaRPr lang="en-US" sz="1600" dirty="0"/>
          </a:p>
        </p:txBody>
      </p:sp>
      <p:sp>
        <p:nvSpPr>
          <p:cNvPr id="24" name="Text 21"/>
          <p:cNvSpPr/>
          <p:nvPr/>
        </p:nvSpPr>
        <p:spPr>
          <a:xfrm>
            <a:off x="7223760" y="3749040"/>
            <a:ext cx="3886200" cy="365760"/>
          </a:xfrm>
          <a:prstGeom prst="rect">
            <a:avLst/>
          </a:prstGeom>
          <a:noFill/>
          <a:ln/>
        </p:spPr>
        <p:txBody>
          <a:bodyPr wrap="square" lIns="0" tIns="0" rIns="0" bIns="0" rtlCol="0" anchor="ctr"/>
          <a:lstStyle/>
          <a:p>
            <a:pPr indent="0" marL="0">
              <a:buNone/>
            </a:pPr>
            <a:r>
              <a:rPr lang="en-US" sz="1400" b="1" dirty="0">
                <a:solidFill>
                  <a:srgbClr val="132238"/>
                </a:solidFill>
                <a:latin typeface="Calibri" pitchFamily="34" charset="0"/>
                <a:ea typeface="Calibri" pitchFamily="34" charset="-122"/>
                <a:cs typeface="Calibri" pitchFamily="34" charset="-120"/>
              </a:rPr>
              <a:t>Annualised Volatility</a:t>
            </a:r>
            <a:endParaRPr lang="en-US" sz="1400" dirty="0"/>
          </a:p>
        </p:txBody>
      </p:sp>
      <p:sp>
        <p:nvSpPr>
          <p:cNvPr id="25" name="Text 22"/>
          <p:cNvSpPr/>
          <p:nvPr/>
        </p:nvSpPr>
        <p:spPr>
          <a:xfrm>
            <a:off x="7223760" y="4151376"/>
            <a:ext cx="3886200" cy="91440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std(log returns, 21d) × √252</a:t>
            </a:r>
            <a:endParaRPr lang="en-US" sz="1200" dirty="0"/>
          </a:p>
        </p:txBody>
      </p:sp>
      <p:sp>
        <p:nvSpPr>
          <p:cNvPr id="26" name="Shape 23"/>
          <p:cNvSpPr/>
          <p:nvPr/>
        </p:nvSpPr>
        <p:spPr>
          <a:xfrm>
            <a:off x="822960" y="5532120"/>
            <a:ext cx="10515600" cy="777240"/>
          </a:xfrm>
          <a:prstGeom prst="roundRect">
            <a:avLst>
              <a:gd name="adj" fmla="val 11765"/>
            </a:avLst>
          </a:prstGeom>
          <a:solidFill>
            <a:srgbClr val="EFF2F5"/>
          </a:solidFill>
          <a:ln/>
        </p:spPr>
      </p:sp>
      <p:sp>
        <p:nvSpPr>
          <p:cNvPr id="27" name="Text 24"/>
          <p:cNvSpPr/>
          <p:nvPr/>
        </p:nvSpPr>
        <p:spPr>
          <a:xfrm>
            <a:off x="1051560" y="5532120"/>
            <a:ext cx="10058400" cy="777240"/>
          </a:xfrm>
          <a:prstGeom prst="rect">
            <a:avLst/>
          </a:prstGeom>
          <a:noFill/>
          <a:ln/>
        </p:spPr>
        <p:txBody>
          <a:bodyPr wrap="square" lIns="0" tIns="0" rIns="0" bIns="0" rtlCol="0" anchor="ctr"/>
          <a:lstStyle/>
          <a:p>
            <a:pPr indent="0" marL="0">
              <a:buNone/>
            </a:pPr>
            <a:r>
              <a:rPr lang="en-US" sz="1150" i="1" dirty="0">
                <a:solidFill>
                  <a:srgbClr val="5B6B7C"/>
                </a:solidFill>
                <a:latin typeface="Calibri" pitchFamily="34" charset="0"/>
                <a:ea typeface="Calibri" pitchFamily="34" charset="-122"/>
                <a:cs typeface="Calibri" pitchFamily="34" charset="-120"/>
              </a:rPr>
              <a:t>Theoretical origin: SMA/EMA rest on trend-following technical analysis · RSI was introduced by J. Welles Wilder (1978) · the √252 annualisation assumes i.i.d. daily returns, a random-walk simplification revisited in Limitations.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chart_line_gol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TREND ANALYSIS</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Price with SMA-20 / SMA-50 -- TCS (IT sector)</a:t>
            </a:r>
            <a:endParaRPr lang="en-US" sz="2700" dirty="0"/>
          </a:p>
        </p:txBody>
      </p:sp>
      <p:pic>
        <p:nvPicPr>
          <p:cNvPr id="6" name="Image 1" descr="charts/pres_price_sma.png">    </p:cNvPr>
          <p:cNvPicPr>
            <a:picLocks noChangeAspect="1"/>
          </p:cNvPicPr>
          <p:nvPr/>
        </p:nvPicPr>
        <p:blipFill>
          <a:blip r:embed="rId2"/>
          <a:srcRect l="0" r="0" t="0" b="0"/>
          <a:stretch/>
        </p:blipFill>
        <p:spPr>
          <a:xfrm>
            <a:off x="822960" y="1691640"/>
            <a:ext cx="8778240" cy="4041648"/>
          </a:xfrm>
          <a:prstGeom prst="rect">
            <a:avLst/>
          </a:prstGeom>
        </p:spPr>
      </p:pic>
      <p:sp>
        <p:nvSpPr>
          <p:cNvPr id="7" name="Shape 3"/>
          <p:cNvSpPr/>
          <p:nvPr/>
        </p:nvSpPr>
        <p:spPr>
          <a:xfrm>
            <a:off x="9829800" y="1691640"/>
            <a:ext cx="1828800" cy="4041648"/>
          </a:xfrm>
          <a:prstGeom prst="roundRect">
            <a:avLst>
              <a:gd name="adj" fmla="val 5000"/>
            </a:avLst>
          </a:prstGeom>
          <a:solidFill>
            <a:srgbClr val="132238"/>
          </a:solidFill>
          <a:ln/>
        </p:spPr>
      </p:sp>
      <p:sp>
        <p:nvSpPr>
          <p:cNvPr id="8" name="Text 4"/>
          <p:cNvSpPr/>
          <p:nvPr/>
        </p:nvSpPr>
        <p:spPr>
          <a:xfrm>
            <a:off x="10012680" y="1874520"/>
            <a:ext cx="1508760" cy="3657600"/>
          </a:xfrm>
          <a:prstGeom prst="rect">
            <a:avLst/>
          </a:prstGeom>
          <a:noFill/>
          <a:ln/>
        </p:spPr>
        <p:txBody>
          <a:bodyPr wrap="square" rtlCol="0" anchor="ctr"/>
          <a:lstStyle/>
          <a:p>
            <a:pPr indent="0" marL="0">
              <a:buNone/>
            </a:pPr>
            <a:r>
              <a:rPr lang="en-US" sz="1050" b="1" dirty="0">
                <a:solidFill>
                  <a:srgbClr val="D9A94F"/>
                </a:solidFill>
                <a:latin typeface="Calibri" pitchFamily="34" charset="0"/>
                <a:ea typeface="Calibri" pitchFamily="34" charset="-122"/>
                <a:cs typeface="Calibri" pitchFamily="34" charset="-120"/>
              </a:rPr>
              <a:t>Reading this chart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a:t>
            </a:r>
            <a:endParaRPr lang="en-US" sz="1050" dirty="0"/>
          </a:p>
          <a:p>
            <a:pPr marL="342900" indent="-342900">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SMA-20 crossing above SMA-50 signals emerging upward momentum.</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The gap between price and its moving average reflects short-term volatility.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wave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MOMENTUM ANALYSIS</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RSI(14) -- HDFCBANK (Banking sector)</a:t>
            </a:r>
            <a:endParaRPr lang="en-US" sz="2700" dirty="0"/>
          </a:p>
        </p:txBody>
      </p:sp>
      <p:pic>
        <p:nvPicPr>
          <p:cNvPr id="6" name="Image 1" descr="charts/pres_rsi.png">    </p:cNvPr>
          <p:cNvPicPr>
            <a:picLocks noChangeAspect="1"/>
          </p:cNvPicPr>
          <p:nvPr/>
        </p:nvPicPr>
        <p:blipFill>
          <a:blip r:embed="rId2"/>
          <a:srcRect l="0" r="0" t="0" b="0"/>
          <a:stretch/>
        </p:blipFill>
        <p:spPr>
          <a:xfrm>
            <a:off x="822960" y="1691640"/>
            <a:ext cx="10515600" cy="3794760"/>
          </a:xfrm>
          <a:prstGeom prst="rect">
            <a:avLst/>
          </a:prstGeom>
        </p:spPr>
      </p:pic>
      <p:sp>
        <p:nvSpPr>
          <p:cNvPr id="7" name="Text 3"/>
          <p:cNvSpPr/>
          <p:nvPr/>
        </p:nvSpPr>
        <p:spPr>
          <a:xfrm>
            <a:off x="822960" y="5623560"/>
            <a:ext cx="10515600" cy="64008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RSI above 70 signals overbought conditions; below 30 signals oversold. Banking shows more time in extreme RSI territory than defensive sectors, consistent with its higher volatility.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balance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RISK COMPARISON</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Mean annualised volatility by sector</a:t>
            </a:r>
            <a:endParaRPr lang="en-US" sz="2700" dirty="0"/>
          </a:p>
        </p:txBody>
      </p:sp>
      <p:graphicFrame>
        <p:nvGraphicFramePr>
          <p:cNvPr id="6" name="Chart 0" descr=""/>
          <p:cNvGraphicFramePr/>
          <p:nvPr/>
        </p:nvGraphicFramePr>
        <p:xfrm>
          <a:off x="822960" y="1645920"/>
          <a:ext cx="7680960" cy="42062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8778240" y="1645920"/>
            <a:ext cx="2743200" cy="4206240"/>
          </a:xfrm>
          <a:prstGeom prst="roundRect">
            <a:avLst>
              <a:gd name="adj" fmla="val 3333"/>
            </a:avLst>
          </a:prstGeom>
          <a:solidFill>
            <a:srgbClr val="132238"/>
          </a:solidFill>
          <a:ln/>
        </p:spPr>
      </p:sp>
      <p:sp>
        <p:nvSpPr>
          <p:cNvPr id="8" name="Text 4"/>
          <p:cNvSpPr/>
          <p:nvPr/>
        </p:nvSpPr>
        <p:spPr>
          <a:xfrm>
            <a:off x="9052560" y="1920240"/>
            <a:ext cx="2194560" cy="3657600"/>
          </a:xfrm>
          <a:prstGeom prst="rect">
            <a:avLst/>
          </a:prstGeom>
          <a:noFill/>
          <a:ln/>
        </p:spPr>
        <p:txBody>
          <a:bodyPr wrap="square" rtlCol="0" anchor="t"/>
          <a:lstStyle/>
          <a:p>
            <a:pPr indent="0" marL="0">
              <a:buNone/>
            </a:pPr>
            <a:r>
              <a:rPr lang="en-US" sz="1100" dirty="0">
                <a:solidFill>
                  <a:srgbClr val="C9D4E0"/>
                </a:solidFill>
                <a:latin typeface="Calibri" pitchFamily="34" charset="0"/>
                <a:ea typeface="Calibri" pitchFamily="34" charset="-122"/>
                <a:cs typeface="Calibri" pitchFamily="34" charset="-120"/>
              </a:rPr>
              <a:t>Most volatile</a:t>
            </a:r>
            <a:endParaRPr lang="en-US" sz="1100" dirty="0"/>
          </a:p>
          <a:p>
            <a:pPr indent="0" marL="0">
              <a:spcAft>
                <a:spcPts val="1600"/>
              </a:spcAft>
              <a:buNone/>
            </a:pPr>
            <a:r>
              <a:rPr lang="en-US" sz="2200" b="1" dirty="0">
                <a:solidFill>
                  <a:srgbClr val="D9A94F"/>
                </a:solidFill>
                <a:latin typeface="Calibri" pitchFamily="34" charset="0"/>
                <a:ea typeface="Calibri" pitchFamily="34" charset="-122"/>
                <a:cs typeface="Calibri" pitchFamily="34" charset="-120"/>
              </a:rPr>
              <a:t>Auto</a:t>
            </a:r>
            <a:endParaRPr lang="en-US" sz="1100" dirty="0"/>
          </a:p>
          <a:p>
            <a:pPr indent="0" marL="0">
              <a:buNone/>
            </a:pPr>
            <a:r>
              <a:rPr lang="en-US" sz="1100" dirty="0">
                <a:solidFill>
                  <a:srgbClr val="C9D4E0"/>
                </a:solidFill>
                <a:latin typeface="Calibri" pitchFamily="34" charset="0"/>
                <a:ea typeface="Calibri" pitchFamily="34" charset="-122"/>
                <a:cs typeface="Calibri" pitchFamily="34" charset="-120"/>
              </a:rPr>
              <a:t>Least volatile</a:t>
            </a:r>
            <a:endParaRPr lang="en-US" sz="1100" dirty="0"/>
          </a:p>
          <a:p>
            <a:pPr indent="0" marL="0">
              <a:buNone/>
            </a:pPr>
            <a:r>
              <a:rPr lang="en-US" sz="2200" b="1" dirty="0">
                <a:solidFill>
                  <a:srgbClr val="2FBF9F"/>
                </a:solidFill>
                <a:latin typeface="Calibri" pitchFamily="34" charset="0"/>
                <a:ea typeface="Calibri" pitchFamily="34" charset="-122"/>
                <a:cs typeface="Calibri" pitchFamily="34" charset="-120"/>
              </a:rPr>
              <a:t>FMCG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bar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DISTRIBUTION SHAPE</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Beyond the average: how returns are spread</a:t>
            </a:r>
            <a:endParaRPr lang="en-US" sz="2700" dirty="0"/>
          </a:p>
        </p:txBody>
      </p:sp>
      <p:pic>
        <p:nvPicPr>
          <p:cNvPr id="6" name="Image 1" descr="charts/pres_boxplot.png">    </p:cNvPr>
          <p:cNvPicPr>
            <a:picLocks noChangeAspect="1"/>
          </p:cNvPicPr>
          <p:nvPr/>
        </p:nvPicPr>
        <p:blipFill>
          <a:blip r:embed="rId2"/>
          <a:srcRect l="0" r="0" t="0" b="0"/>
          <a:stretch/>
        </p:blipFill>
        <p:spPr>
          <a:xfrm>
            <a:off x="548640" y="1691640"/>
            <a:ext cx="5394960" cy="4206240"/>
          </a:xfrm>
          <a:prstGeom prst="rect">
            <a:avLst/>
          </a:prstGeom>
        </p:spPr>
      </p:pic>
      <p:pic>
        <p:nvPicPr>
          <p:cNvPr id="7" name="Image 2" descr="charts/pres_histplot.png">    </p:cNvPr>
          <p:cNvPicPr>
            <a:picLocks noChangeAspect="1"/>
          </p:cNvPicPr>
          <p:nvPr/>
        </p:nvPicPr>
        <p:blipFill>
          <a:blip r:embed="rId3"/>
          <a:srcRect l="0" r="0" t="0" b="0"/>
          <a:stretch/>
        </p:blipFill>
        <p:spPr>
          <a:xfrm>
            <a:off x="6172200" y="2148840"/>
            <a:ext cx="5486400" cy="3291840"/>
          </a:xfrm>
          <a:prstGeom prst="rect">
            <a:avLst/>
          </a:prstGeom>
        </p:spPr>
      </p:pic>
      <p:sp>
        <p:nvSpPr>
          <p:cNvPr id="8" name="Text 3"/>
          <p:cNvSpPr/>
          <p:nvPr/>
        </p:nvSpPr>
        <p:spPr>
          <a:xfrm>
            <a:off x="6172200" y="5486400"/>
            <a:ext cx="5486400" cy="457200"/>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Daily return distribution -- Auto, Banking, FMCG. Note the fat tails discussed in the theoretical framework (Slide 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layer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DIVERSIFICATION</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Correlation of daily sector returns</a:t>
            </a:r>
            <a:endParaRPr lang="en-US" sz="2700" dirty="0"/>
          </a:p>
        </p:txBody>
      </p:sp>
      <p:pic>
        <p:nvPicPr>
          <p:cNvPr id="6" name="Image 1" descr="charts/pres_heatmap.png">    </p:cNvPr>
          <p:cNvPicPr>
            <a:picLocks noChangeAspect="1"/>
          </p:cNvPicPr>
          <p:nvPr/>
        </p:nvPicPr>
        <p:blipFill>
          <a:blip r:embed="rId2"/>
          <a:srcRect l="0" r="0" t="0" b="0"/>
          <a:stretch/>
        </p:blipFill>
        <p:spPr>
          <a:xfrm>
            <a:off x="822960" y="1554480"/>
            <a:ext cx="5577840" cy="4846320"/>
          </a:xfrm>
          <a:prstGeom prst="rect">
            <a:avLst/>
          </a:prstGeom>
        </p:spPr>
      </p:pic>
      <p:sp>
        <p:nvSpPr>
          <p:cNvPr id="7" name="Text 3"/>
          <p:cNvSpPr/>
          <p:nvPr/>
        </p:nvSpPr>
        <p:spPr>
          <a:xfrm>
            <a:off x="6858000" y="1691640"/>
            <a:ext cx="4572000" cy="365760"/>
          </a:xfrm>
          <a:prstGeom prst="rect">
            <a:avLst/>
          </a:prstGeom>
          <a:noFill/>
          <a:ln/>
        </p:spPr>
        <p:txBody>
          <a:bodyPr wrap="square" lIns="0" tIns="0" rIns="0" bIns="0" rtlCol="0" anchor="ctr"/>
          <a:lstStyle/>
          <a:p>
            <a:pPr indent="0" marL="0">
              <a:buNone/>
            </a:pPr>
            <a:r>
              <a:rPr lang="en-US" sz="1300" b="1" spc="100" kern="0" dirty="0">
                <a:solidFill>
                  <a:srgbClr val="D9A94F"/>
                </a:solidFill>
                <a:latin typeface="Calibri" pitchFamily="34" charset="0"/>
                <a:ea typeface="Calibri" pitchFamily="34" charset="-122"/>
                <a:cs typeface="Calibri" pitchFamily="34" charset="-120"/>
              </a:rPr>
              <a:t>What correlation tells us</a:t>
            </a:r>
            <a:endParaRPr lang="en-US" sz="1300" dirty="0"/>
          </a:p>
        </p:txBody>
      </p:sp>
      <p:sp>
        <p:nvSpPr>
          <p:cNvPr id="8" name="Text 4"/>
          <p:cNvSpPr/>
          <p:nvPr/>
        </p:nvSpPr>
        <p:spPr>
          <a:xfrm>
            <a:off x="6858000" y="2148840"/>
            <a:ext cx="4663440" cy="3474720"/>
          </a:xfrm>
          <a:prstGeom prst="rect">
            <a:avLst/>
          </a:prstGeom>
          <a:noFill/>
          <a:ln/>
        </p:spPr>
        <p:txBody>
          <a:bodyPr wrap="square" rtlCol="0" anchor="t"/>
          <a:lstStyle/>
          <a:p>
            <a:pPr marL="342900" indent="-342900">
              <a:spcAft>
                <a:spcPts val="1200"/>
              </a:spcAft>
              <a:buSzPct val="100000"/>
              <a:buChar char="•"/>
            </a:pPr>
            <a:r>
              <a:rPr lang="en-US" sz="1300" dirty="0">
                <a:solidFill>
                  <a:srgbClr val="1C2733"/>
                </a:solidFill>
                <a:latin typeface="Calibri" pitchFamily="34" charset="0"/>
                <a:ea typeface="Calibri" pitchFamily="34" charset="-122"/>
                <a:cs typeface="Calibri" pitchFamily="34" charset="-120"/>
              </a:rPr>
              <a:t>Values near 0 mean two sectors move mostly independently of each other.</a:t>
            </a:r>
            <a:endParaRPr lang="en-US" sz="1300" dirty="0"/>
          </a:p>
          <a:p>
            <a:pPr marL="342900" indent="-342900">
              <a:spcAft>
                <a:spcPts val="1200"/>
              </a:spcAft>
              <a:buSzPct val="100000"/>
              <a:buChar char="•"/>
            </a:pPr>
            <a:r>
              <a:rPr lang="en-US" sz="1300" dirty="0">
                <a:solidFill>
                  <a:srgbClr val="1C2733"/>
                </a:solidFill>
                <a:latin typeface="Calibri" pitchFamily="34" charset="0"/>
                <a:ea typeface="Calibri" pitchFamily="34" charset="-122"/>
                <a:cs typeface="Calibri" pitchFamily="34" charset="-120"/>
              </a:rPr>
              <a:t>Values near 1 mean two sectors tend to rise and fall together.</a:t>
            </a:r>
            <a:endParaRPr lang="en-US" sz="1300" dirty="0"/>
          </a:p>
          <a:p>
            <a:pPr marL="342900" indent="-342900">
              <a:spcAft>
                <a:spcPts val="1200"/>
              </a:spcAft>
              <a:buSzPct val="100000"/>
              <a:buChar char="•"/>
            </a:pPr>
            <a:r>
              <a:rPr lang="en-US" sz="1300" dirty="0">
                <a:solidFill>
                  <a:srgbClr val="1C2733"/>
                </a:solidFill>
                <a:latin typeface="Calibri" pitchFamily="34" charset="0"/>
                <a:ea typeface="Calibri" pitchFamily="34" charset="-122"/>
                <a:cs typeface="Calibri" pitchFamily="34" charset="-120"/>
              </a:rPr>
              <a:t>Low correlation here directly supports the Markowitz diversification argument from Slide 3: combining low-correlation sectors reduces portfolio-level risk beyond what any single sector's volatility suggests.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check_gol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KEY FINDINGS</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Summary statistics by sector</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789920" cy="2926080"/>
        </p:xfrm>
        <a:graphic>
          <a:graphicData uri="http://schemas.openxmlformats.org/drawingml/2006/table">
            <a:tbl>
              <a:tblPr/>
              <a:tblGrid>
                <a:gridCol w="1798320"/>
                <a:gridCol w="1798320"/>
                <a:gridCol w="1798320"/>
                <a:gridCol w="1798320"/>
                <a:gridCol w="1798320"/>
                <a:gridCol w="1798320"/>
              </a:tblGrid>
              <a:tr h="43891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Ann. Return</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Ann. Volatility</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Return/Vol</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Overbought</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Oversold</a:t>
                      </a:r>
                      <a:endParaRPr lang="en-US" sz="12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132238"/>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Auto</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31.4%</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Energy</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59.1%</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31.4%</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14.2%</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Banking</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47.1%</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30.6%</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10.3%</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Pharma</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21.7%</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IT</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19.3%</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0.53</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1C2733"/>
                          </a:solidFill>
                          <a:latin typeface="Calibri" pitchFamily="34" charset="0"/>
                          <a:ea typeface="Calibri" pitchFamily="34" charset="-122"/>
                          <a:cs typeface="Calibri" pitchFamily="34" charset="-120"/>
                        </a:rPr>
                        <a:t>FMCG</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21.7%</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73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9525" cap="flat" cmpd="sng" algn="ctr">
                      <a:solidFill>
                        <a:srgbClr val="D7DEE6"/>
                      </a:solidFill>
                      <a:prstDash val="solid"/>
                      <a:round/>
                      <a:headEnd type="none" w="med" len="med"/>
                      <a:tailEnd type="none" w="med" len="med"/>
                    </a:lnL>
                    <a:lnR w="9525" cap="flat" cmpd="sng" algn="ctr">
                      <a:solidFill>
                        <a:srgbClr val="D7DEE6"/>
                      </a:solidFill>
                      <a:prstDash val="solid"/>
                      <a:round/>
                      <a:headEnd type="none" w="med" len="med"/>
                      <a:tailEnd type="none" w="med" len="med"/>
                    </a:lnR>
                    <a:lnT w="9525" cap="flat" cmpd="sng" algn="ctr">
                      <a:solidFill>
                        <a:srgbClr val="D7DEE6"/>
                      </a:solidFill>
                      <a:prstDash val="solid"/>
                      <a:round/>
                      <a:headEnd type="none" w="med" len="med"/>
                      <a:tailEnd type="none" w="med" len="med"/>
                    </a:lnT>
                    <a:lnB w="9525" cap="flat" cmpd="sng" algn="ctr">
                      <a:solidFill>
                        <a:srgbClr val="D7DEE6"/>
                      </a:solidFill>
                      <a:prstDash val="solid"/>
                      <a:round/>
                      <a:headEnd type="none" w="med" len="med"/>
                      <a:tailEnd type="none" w="med" len="med"/>
                    </a:lnB>
                    <a:solidFill>
                      <a:srgbClr val="FFFFFF"/>
                    </a:solidFill>
                  </a:tcPr>
                </a:tc>
              </a:tr>
            </a:tbl>
          </a:graphicData>
        </a:graphic>
      </p:graphicFrame>
      <p:sp>
        <p:nvSpPr>
          <p:cNvPr id="7" name="Text 3"/>
          <p:cNvSpPr/>
          <p:nvPr/>
        </p:nvSpPr>
        <p:spPr>
          <a:xfrm>
            <a:off x="685800" y="4846320"/>
            <a:ext cx="10789920" cy="1371600"/>
          </a:xfrm>
          <a:prstGeom prst="rect">
            <a:avLst/>
          </a:prstGeom>
          <a:noFill/>
          <a:ln/>
        </p:spPr>
        <p:txBody>
          <a:bodyPr wrap="square" rtlCol="0" anchor="t"/>
          <a:lstStyle/>
          <a:p>
            <a:pPr marL="342900" indent="-342900">
              <a:spcAft>
                <a:spcPts val="800"/>
              </a:spcAft>
              <a:buSzPct val="100000"/>
              <a:buChar char="•"/>
            </a:pPr>
            <a:r>
              <a:rPr lang="en-US" sz="1300" dirty="0">
                <a:solidFill>
                  <a:srgbClr val="1C2733"/>
                </a:solidFill>
                <a:latin typeface="Calibri" pitchFamily="34" charset="0"/>
                <a:ea typeface="Calibri" pitchFamily="34" charset="-122"/>
                <a:cs typeface="Calibri" pitchFamily="34" charset="-120"/>
              </a:rPr>
              <a:t>Auto and Banking carry the highest risk in this sample -- expected given macro/rate sensitivity.</a:t>
            </a:r>
            <a:endParaRPr lang="en-US" sz="1300" dirty="0"/>
          </a:p>
          <a:p>
            <a:pPr marL="342900" indent="-342900">
              <a:spcAft>
                <a:spcPts val="800"/>
              </a:spcAft>
              <a:buSzPct val="100000"/>
              <a:buChar char="•"/>
            </a:pPr>
            <a:r>
              <a:rPr lang="en-US" sz="1300" dirty="0">
                <a:solidFill>
                  <a:srgbClr val="1C2733"/>
                </a:solidFill>
                <a:latin typeface="Calibri" pitchFamily="34" charset="0"/>
                <a:ea typeface="Calibri" pitchFamily="34" charset="-122"/>
                <a:cs typeface="Calibri" pitchFamily="34" charset="-120"/>
              </a:rPr>
              <a:t>FMCG is the most defensive sector -- lower swings, fewer extreme RSI days.</a:t>
            </a:r>
            <a:endParaRPr lang="en-US" sz="1300" dirty="0"/>
          </a:p>
          <a:p>
            <a:pPr marL="342900" indent="-342900">
              <a:spcAft>
                <a:spcPts val="800"/>
              </a:spcAft>
              <a:buSzPct val="100000"/>
              <a:buChar char="•"/>
            </a:pPr>
            <a:r>
              <a:rPr lang="en-US" sz="1300" dirty="0">
                <a:solidFill>
                  <a:srgbClr val="1C2733"/>
                </a:solidFill>
                <a:latin typeface="Calibri" pitchFamily="34" charset="0"/>
                <a:ea typeface="Calibri" pitchFamily="34" charset="-122"/>
                <a:cs typeface="Calibri" pitchFamily="34" charset="-120"/>
              </a:rPr>
              <a:t>Energy shows the strongest return earned per unit of risk taken in this window.</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clipboard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ACADEMIC RIGOR</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Limitations &amp; scope</a:t>
            </a:r>
            <a:endParaRPr lang="en-US" sz="2700" dirty="0"/>
          </a:p>
        </p:txBody>
      </p:sp>
      <p:sp>
        <p:nvSpPr>
          <p:cNvPr id="6" name="Text 3"/>
          <p:cNvSpPr/>
          <p:nvPr/>
        </p:nvSpPr>
        <p:spPr>
          <a:xfrm>
            <a:off x="1280160" y="1645920"/>
            <a:ext cx="9601200" cy="3520440"/>
          </a:xfrm>
          <a:prstGeom prst="rect">
            <a:avLst/>
          </a:prstGeom>
          <a:noFill/>
          <a:ln/>
        </p:spPr>
        <p:txBody>
          <a:bodyPr wrap="square" rtlCol="0" anchor="t"/>
          <a:lstStyle/>
          <a:p>
            <a:pPr marL="342900" indent="-342900">
              <a:spcAft>
                <a:spcPts val="1300"/>
              </a:spcAft>
              <a:buSzPct val="100000"/>
              <a:buChar char="•"/>
            </a:pPr>
            <a:r>
              <a:rPr lang="en-US" sz="1400" dirty="0">
                <a:solidFill>
                  <a:srgbClr val="1C2733"/>
                </a:solidFill>
                <a:latin typeface="Calibri" pitchFamily="34" charset="0"/>
                <a:ea typeface="Calibri" pitchFamily="34" charset="-122"/>
                <a:cs typeface="Calibri" pitchFamily="34" charset="-120"/>
              </a:rPr>
              <a:t>This is a descriptive statistical study; no hypothesis testing or significance testing (e.g. p-values) is performed on the differences observed between sectors.</a:t>
            </a:r>
            <a:endParaRPr lang="en-US" sz="1400" dirty="0"/>
          </a:p>
          <a:p>
            <a:pPr marL="342900" indent="-342900">
              <a:spcAft>
                <a:spcPts val="1300"/>
              </a:spcAft>
              <a:buSzPct val="100000"/>
              <a:buChar char="•"/>
            </a:pPr>
            <a:r>
              <a:rPr lang="en-US" sz="1400" dirty="0">
                <a:solidFill>
                  <a:srgbClr val="1C2733"/>
                </a:solidFill>
                <a:latin typeface="Calibri" pitchFamily="34" charset="0"/>
                <a:ea typeface="Calibri" pitchFamily="34" charset="-122"/>
                <a:cs typeface="Calibri" pitchFamily="34" charset="-120"/>
              </a:rPr>
              <a:t>Correlation reported is Pearson (linear) correlation -- nonlinear co-movement between sectors is not captured by this measure.</a:t>
            </a:r>
            <a:endParaRPr lang="en-US" sz="1400" dirty="0"/>
          </a:p>
          <a:p>
            <a:pPr marL="342900" indent="-342900">
              <a:spcAft>
                <a:spcPts val="1300"/>
              </a:spcAft>
              <a:buSzPct val="100000"/>
              <a:buChar char="•"/>
            </a:pPr>
            <a:r>
              <a:rPr lang="en-US" sz="1400" dirty="0">
                <a:solidFill>
                  <a:srgbClr val="1C2733"/>
                </a:solidFill>
                <a:latin typeface="Calibri" pitchFamily="34" charset="0"/>
                <a:ea typeface="Calibri" pitchFamily="34" charset="-122"/>
                <a:cs typeface="Calibri" pitchFamily="34" charset="-120"/>
              </a:rPr>
              <a:t>The Return/Volatility ratio omits a risk-free rate and is not a formal Sharpe ratio.</a:t>
            </a:r>
            <a:endParaRPr lang="en-US" sz="1400" dirty="0"/>
          </a:p>
          <a:p>
            <a:pPr marL="342900" indent="-342900">
              <a:spcAft>
                <a:spcPts val="1300"/>
              </a:spcAft>
              <a:buSzPct val="100000"/>
              <a:buChar char="•"/>
            </a:pPr>
            <a:r>
              <a:rPr lang="en-US" sz="1400" dirty="0">
                <a:solidFill>
                  <a:srgbClr val="1C2733"/>
                </a:solidFill>
                <a:latin typeface="Calibri" pitchFamily="34" charset="0"/>
                <a:ea typeface="Calibri" pitchFamily="34" charset="-122"/>
                <a:cs typeface="Calibri" pitchFamily="34" charset="-120"/>
              </a:rPr>
              <a:t>Annualisation via √252 assumes i.i.d. daily returns; Slide 4 already showed volatility clustering, so this is a simplifying assumption, not a claim that returns are truly independent day to day.</a:t>
            </a:r>
            <a:endParaRPr lang="en-US" sz="1400" dirty="0"/>
          </a:p>
          <a:p>
            <a:pPr marL="342900" indent="-342900">
              <a:spcAft>
                <a:spcPts val="1300"/>
              </a:spcAft>
              <a:buSzPct val="100000"/>
              <a:buChar char="•"/>
            </a:pPr>
            <a:r>
              <a:rPr lang="en-US" sz="1400" dirty="0">
                <a:solidFill>
                  <a:srgbClr val="1C2733"/>
                </a:solidFill>
                <a:latin typeface="Calibri" pitchFamily="34" charset="0"/>
                <a:ea typeface="Calibri" pitchFamily="34" charset="-122"/>
                <a:cs typeface="Calibri" pitchFamily="34" charset="-120"/>
              </a:rPr>
              <a:t>Findings reflect the specific sample window analysed and should not be extrapolated as permanent, time-invariant sector characteristics.</a:t>
            </a:r>
            <a:endParaRPr lang="en-US" sz="1400" dirty="0"/>
          </a:p>
        </p:txBody>
      </p:sp>
      <p:sp>
        <p:nvSpPr>
          <p:cNvPr id="7" name="Shape 4"/>
          <p:cNvSpPr/>
          <p:nvPr/>
        </p:nvSpPr>
        <p:spPr>
          <a:xfrm>
            <a:off x="1280160" y="5394960"/>
            <a:ext cx="9601200" cy="960120"/>
          </a:xfrm>
          <a:prstGeom prst="roundRect">
            <a:avLst>
              <a:gd name="adj" fmla="val 9524"/>
            </a:avLst>
          </a:prstGeom>
          <a:solidFill>
            <a:srgbClr val="EAF2EF"/>
          </a:solidFill>
          <a:ln/>
        </p:spPr>
      </p:sp>
      <p:sp>
        <p:nvSpPr>
          <p:cNvPr id="8" name="Text 5"/>
          <p:cNvSpPr/>
          <p:nvPr/>
        </p:nvSpPr>
        <p:spPr>
          <a:xfrm>
            <a:off x="1554480" y="5394960"/>
            <a:ext cx="9052560" cy="960120"/>
          </a:xfrm>
          <a:prstGeom prst="rect">
            <a:avLst/>
          </a:prstGeom>
          <a:noFill/>
          <a:ln/>
        </p:spPr>
        <p:txBody>
          <a:bodyPr wrap="square" lIns="0" tIns="0" rIns="0" bIns="0" rtlCol="0" anchor="ctr"/>
          <a:lstStyle/>
          <a:p>
            <a:pPr indent="0" marL="0">
              <a:buNone/>
            </a:pPr>
            <a:r>
              <a:rPr lang="en-US" sz="1350" i="1" dirty="0">
                <a:solidFill>
                  <a:srgbClr val="1E5C4A"/>
                </a:solidFill>
                <a:latin typeface="Calibri" pitchFamily="34" charset="0"/>
                <a:ea typeface="Calibri" pitchFamily="34" charset="-122"/>
                <a:cs typeface="Calibri" pitchFamily="34" charset="-120"/>
              </a:rPr>
              <a:t>None of this invalidates the descriptive findings -- it defines the boundary of what this study claims, which is standard practice in empirical research.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32238"/>
          </a:solidFill>
          <a:ln/>
        </p:spPr>
      </p:sp>
      <p:pic>
        <p:nvPicPr>
          <p:cNvPr id="3" name="Image 0" descr="icons/book_navy.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p:nvPr/>
        </p:nvSpPr>
        <p:spPr>
          <a:xfrm>
            <a:off x="1280160" y="457200"/>
            <a:ext cx="8229600" cy="320040"/>
          </a:xfrm>
          <a:prstGeom prst="rect">
            <a:avLst/>
          </a:prstGeom>
          <a:noFill/>
          <a:ln/>
        </p:spPr>
        <p:txBody>
          <a:bodyPr wrap="square" lIns="0" tIns="0" rIns="0" bIns="0" rtlCol="0" anchor="ctr"/>
          <a:lstStyle/>
          <a:p>
            <a:pPr indent="0" marL="0">
              <a:buNone/>
            </a:pPr>
            <a:r>
              <a:rPr lang="en-US" sz="1200" b="1" spc="200" kern="0" dirty="0">
                <a:solidFill>
                  <a:srgbClr val="D9A94F"/>
                </a:solidFill>
                <a:latin typeface="Calibri" pitchFamily="34" charset="0"/>
                <a:ea typeface="Calibri" pitchFamily="34" charset="-122"/>
                <a:cs typeface="Calibri" pitchFamily="34" charset="-120"/>
              </a:rPr>
              <a:t>THEORETICAL GROUNDING</a:t>
            </a:r>
            <a:endParaRPr lang="en-US" sz="1200" dirty="0"/>
          </a:p>
        </p:txBody>
      </p:sp>
      <p:sp>
        <p:nvSpPr>
          <p:cNvPr id="5" name="Text 2"/>
          <p:cNvSpPr/>
          <p:nvPr/>
        </p:nvSpPr>
        <p:spPr>
          <a:xfrm>
            <a:off x="1280160" y="713232"/>
            <a:ext cx="10058400" cy="548640"/>
          </a:xfrm>
          <a:prstGeom prst="rect">
            <a:avLst/>
          </a:prstGeom>
          <a:noFill/>
          <a:ln/>
        </p:spPr>
        <p:txBody>
          <a:bodyPr wrap="square" lIns="0" tIns="0" rIns="0" bIns="0" rtlCol="0" anchor="ctr"/>
          <a:lstStyle/>
          <a:p>
            <a:pPr indent="0" marL="0">
              <a:buNone/>
            </a:pPr>
            <a:r>
              <a:rPr lang="en-US" sz="2700" b="1" dirty="0">
                <a:solidFill>
                  <a:srgbClr val="132238"/>
                </a:solidFill>
                <a:latin typeface="Cambria" pitchFamily="34" charset="0"/>
                <a:ea typeface="Cambria" pitchFamily="34" charset="-122"/>
                <a:cs typeface="Cambria" pitchFamily="34" charset="-120"/>
              </a:rPr>
              <a:t>Core references</a:t>
            </a:r>
            <a:endParaRPr lang="en-US" sz="2700" dirty="0"/>
          </a:p>
        </p:txBody>
      </p:sp>
      <p:sp>
        <p:nvSpPr>
          <p:cNvPr id="6" name="Shape 3"/>
          <p:cNvSpPr/>
          <p:nvPr/>
        </p:nvSpPr>
        <p:spPr>
          <a:xfrm>
            <a:off x="822960" y="1691640"/>
            <a:ext cx="10515600" cy="1234440"/>
          </a:xfrm>
          <a:prstGeom prst="roundRect">
            <a:avLst>
              <a:gd name="adj" fmla="val 7407"/>
            </a:avLst>
          </a:prstGeom>
          <a:solidFill>
            <a:srgbClr val="FFFFFF"/>
          </a:solidFill>
          <a:ln/>
          <a:effectLst>
            <a:outerShdw sx="100000" sy="100000" kx="0" ky="0" algn="bl" rotWithShape="0" blurRad="101600" dist="38100" dir="2700000">
              <a:srgbClr val="0F1826">
                <a:alpha val="18000"/>
              </a:srgbClr>
            </a:outerShdw>
          </a:effectLst>
        </p:spPr>
      </p:sp>
      <p:sp>
        <p:nvSpPr>
          <p:cNvPr id="7" name="Text 4"/>
          <p:cNvSpPr/>
          <p:nvPr/>
        </p:nvSpPr>
        <p:spPr>
          <a:xfrm>
            <a:off x="1051560" y="1801368"/>
            <a:ext cx="3108960" cy="1005840"/>
          </a:xfrm>
          <a:prstGeom prst="rect">
            <a:avLst/>
          </a:prstGeom>
          <a:noFill/>
          <a:ln/>
        </p:spPr>
        <p:txBody>
          <a:bodyPr wrap="square" lIns="0" tIns="0" rIns="0" bIns="0" rtlCol="0" anchor="t"/>
          <a:lstStyle/>
          <a:p>
            <a:pPr indent="0" marL="0">
              <a:buNone/>
            </a:pPr>
            <a:r>
              <a:rPr lang="en-US" sz="1400" b="1" dirty="0">
                <a:solidFill>
                  <a:srgbClr val="132238"/>
                </a:solidFill>
                <a:latin typeface="Cambria" pitchFamily="34" charset="0"/>
                <a:ea typeface="Cambria" pitchFamily="34" charset="-122"/>
                <a:cs typeface="Cambria" pitchFamily="34" charset="-120"/>
              </a:rPr>
              <a:t>Markowitz, H. (1952)</a:t>
            </a:r>
            <a:endParaRPr lang="en-US" sz="1400" dirty="0"/>
          </a:p>
        </p:txBody>
      </p:sp>
      <p:sp>
        <p:nvSpPr>
          <p:cNvPr id="8" name="Text 5"/>
          <p:cNvSpPr/>
          <p:nvPr/>
        </p:nvSpPr>
        <p:spPr>
          <a:xfrm>
            <a:off x="4206240" y="1801368"/>
            <a:ext cx="3291840" cy="1005840"/>
          </a:xfrm>
          <a:prstGeom prst="rect">
            <a:avLst/>
          </a:prstGeom>
          <a:noFill/>
          <a:ln/>
        </p:spPr>
        <p:txBody>
          <a:bodyPr wrap="square" lIns="0" tIns="0" rIns="0" bIns="0" rtlCol="0" anchor="t"/>
          <a:lstStyle/>
          <a:p>
            <a:pPr indent="0" marL="0">
              <a:buNone/>
            </a:pPr>
            <a:r>
              <a:rPr lang="en-US" sz="1200" i="1" dirty="0">
                <a:solidFill>
                  <a:srgbClr val="5B6B7C"/>
                </a:solidFill>
                <a:latin typeface="Calibri" pitchFamily="34" charset="0"/>
                <a:ea typeface="Calibri" pitchFamily="34" charset="-122"/>
                <a:cs typeface="Calibri" pitchFamily="34" charset="-120"/>
              </a:rPr>
              <a:t>"Portfolio Selection," Journal of Finance.</a:t>
            </a:r>
            <a:endParaRPr lang="en-US" sz="1200" dirty="0"/>
          </a:p>
        </p:txBody>
      </p:sp>
      <p:sp>
        <p:nvSpPr>
          <p:cNvPr id="9" name="Text 6"/>
          <p:cNvSpPr/>
          <p:nvPr/>
        </p:nvSpPr>
        <p:spPr>
          <a:xfrm>
            <a:off x="7635240" y="1801368"/>
            <a:ext cx="3520440" cy="1005840"/>
          </a:xfrm>
          <a:prstGeom prst="rect">
            <a:avLst/>
          </a:prstGeom>
          <a:noFill/>
          <a:ln/>
        </p:spPr>
        <p:txBody>
          <a:bodyPr wrap="square" lIns="0" tIns="0" rIns="0" bIns="0" rtlCol="0" anchor="t"/>
          <a:lstStyle/>
          <a:p>
            <a:pPr indent="0" marL="0">
              <a:buNone/>
            </a:pPr>
            <a:r>
              <a:rPr lang="en-US" sz="1150" dirty="0">
                <a:solidFill>
                  <a:srgbClr val="1C2733"/>
                </a:solidFill>
                <a:latin typeface="Calibri" pitchFamily="34" charset="0"/>
                <a:ea typeface="Calibri" pitchFamily="34" charset="-122"/>
                <a:cs typeface="Calibri" pitchFamily="34" charset="-120"/>
              </a:rPr>
              <a:t>Foundation for treating variance/std. dev. as the formal definition of investment risk.</a:t>
            </a:r>
            <a:endParaRPr lang="en-US" sz="1150" dirty="0"/>
          </a:p>
        </p:txBody>
      </p:sp>
      <p:sp>
        <p:nvSpPr>
          <p:cNvPr id="10" name="Shape 7"/>
          <p:cNvSpPr/>
          <p:nvPr/>
        </p:nvSpPr>
        <p:spPr>
          <a:xfrm>
            <a:off x="822960" y="3108960"/>
            <a:ext cx="10515600" cy="1234440"/>
          </a:xfrm>
          <a:prstGeom prst="roundRect">
            <a:avLst>
              <a:gd name="adj" fmla="val 7407"/>
            </a:avLst>
          </a:prstGeom>
          <a:solidFill>
            <a:srgbClr val="FFFFFF"/>
          </a:solidFill>
          <a:ln/>
          <a:effectLst>
            <a:outerShdw sx="100000" sy="100000" kx="0" ky="0" algn="bl" rotWithShape="0" blurRad="101600" dist="38100" dir="2700000">
              <a:srgbClr val="0F1826">
                <a:alpha val="18000"/>
              </a:srgbClr>
            </a:outerShdw>
          </a:effectLst>
        </p:spPr>
      </p:sp>
      <p:sp>
        <p:nvSpPr>
          <p:cNvPr id="11" name="Text 8"/>
          <p:cNvSpPr/>
          <p:nvPr/>
        </p:nvSpPr>
        <p:spPr>
          <a:xfrm>
            <a:off x="1051560" y="3218688"/>
            <a:ext cx="3108960" cy="1005840"/>
          </a:xfrm>
          <a:prstGeom prst="rect">
            <a:avLst/>
          </a:prstGeom>
          <a:noFill/>
          <a:ln/>
        </p:spPr>
        <p:txBody>
          <a:bodyPr wrap="square" lIns="0" tIns="0" rIns="0" bIns="0" rtlCol="0" anchor="t"/>
          <a:lstStyle/>
          <a:p>
            <a:pPr indent="0" marL="0">
              <a:buNone/>
            </a:pPr>
            <a:r>
              <a:rPr lang="en-US" sz="1400" b="1" dirty="0">
                <a:solidFill>
                  <a:srgbClr val="132238"/>
                </a:solidFill>
                <a:latin typeface="Cambria" pitchFamily="34" charset="0"/>
                <a:ea typeface="Cambria" pitchFamily="34" charset="-122"/>
                <a:cs typeface="Cambria" pitchFamily="34" charset="-120"/>
              </a:rPr>
              <a:t>Wilder, J. W. (1978)</a:t>
            </a:r>
            <a:endParaRPr lang="en-US" sz="1400" dirty="0"/>
          </a:p>
        </p:txBody>
      </p:sp>
      <p:sp>
        <p:nvSpPr>
          <p:cNvPr id="12" name="Text 9"/>
          <p:cNvSpPr/>
          <p:nvPr/>
        </p:nvSpPr>
        <p:spPr>
          <a:xfrm>
            <a:off x="4206240" y="3218688"/>
            <a:ext cx="3291840" cy="1005840"/>
          </a:xfrm>
          <a:prstGeom prst="rect">
            <a:avLst/>
          </a:prstGeom>
          <a:noFill/>
          <a:ln/>
        </p:spPr>
        <p:txBody>
          <a:bodyPr wrap="square" lIns="0" tIns="0" rIns="0" bIns="0" rtlCol="0" anchor="t"/>
          <a:lstStyle/>
          <a:p>
            <a:pPr indent="0" marL="0">
              <a:buNone/>
            </a:pPr>
            <a:r>
              <a:rPr lang="en-US" sz="1200" i="1" dirty="0">
                <a:solidFill>
                  <a:srgbClr val="5B6B7C"/>
                </a:solidFill>
                <a:latin typeface="Calibri" pitchFamily="34" charset="0"/>
                <a:ea typeface="Calibri" pitchFamily="34" charset="-122"/>
                <a:cs typeface="Calibri" pitchFamily="34" charset="-120"/>
              </a:rPr>
              <a:t>New Concepts in Technical Trading Systems.</a:t>
            </a:r>
            <a:endParaRPr lang="en-US" sz="1200" dirty="0"/>
          </a:p>
        </p:txBody>
      </p:sp>
      <p:sp>
        <p:nvSpPr>
          <p:cNvPr id="13" name="Text 10"/>
          <p:cNvSpPr/>
          <p:nvPr/>
        </p:nvSpPr>
        <p:spPr>
          <a:xfrm>
            <a:off x="7635240" y="3218688"/>
            <a:ext cx="3520440" cy="1005840"/>
          </a:xfrm>
          <a:prstGeom prst="rect">
            <a:avLst/>
          </a:prstGeom>
          <a:noFill/>
          <a:ln/>
        </p:spPr>
        <p:txBody>
          <a:bodyPr wrap="square" lIns="0" tIns="0" rIns="0" bIns="0" rtlCol="0" anchor="t"/>
          <a:lstStyle/>
          <a:p>
            <a:pPr indent="0" marL="0">
              <a:buNone/>
            </a:pPr>
            <a:r>
              <a:rPr lang="en-US" sz="1150" dirty="0">
                <a:solidFill>
                  <a:srgbClr val="1C2733"/>
                </a:solidFill>
                <a:latin typeface="Calibri" pitchFamily="34" charset="0"/>
                <a:ea typeface="Calibri" pitchFamily="34" charset="-122"/>
                <a:cs typeface="Calibri" pitchFamily="34" charset="-120"/>
              </a:rPr>
              <a:t>Original source of the Relative Strength Index (RSI), implemented manually in this study.</a:t>
            </a:r>
            <a:endParaRPr lang="en-US" sz="1150" dirty="0"/>
          </a:p>
        </p:txBody>
      </p:sp>
      <p:sp>
        <p:nvSpPr>
          <p:cNvPr id="14" name="Shape 11"/>
          <p:cNvSpPr/>
          <p:nvPr/>
        </p:nvSpPr>
        <p:spPr>
          <a:xfrm>
            <a:off x="822960" y="4526280"/>
            <a:ext cx="10515600" cy="1234440"/>
          </a:xfrm>
          <a:prstGeom prst="roundRect">
            <a:avLst>
              <a:gd name="adj" fmla="val 7407"/>
            </a:avLst>
          </a:prstGeom>
          <a:solidFill>
            <a:srgbClr val="FFFFFF"/>
          </a:solidFill>
          <a:ln/>
          <a:effectLst>
            <a:outerShdw sx="100000" sy="100000" kx="0" ky="0" algn="bl" rotWithShape="0" blurRad="101600" dist="38100" dir="2700000">
              <a:srgbClr val="0F1826">
                <a:alpha val="18000"/>
              </a:srgbClr>
            </a:outerShdw>
          </a:effectLst>
        </p:spPr>
      </p:sp>
      <p:sp>
        <p:nvSpPr>
          <p:cNvPr id="15" name="Text 12"/>
          <p:cNvSpPr/>
          <p:nvPr/>
        </p:nvSpPr>
        <p:spPr>
          <a:xfrm>
            <a:off x="1051560" y="4636008"/>
            <a:ext cx="3108960" cy="1005840"/>
          </a:xfrm>
          <a:prstGeom prst="rect">
            <a:avLst/>
          </a:prstGeom>
          <a:noFill/>
          <a:ln/>
        </p:spPr>
        <p:txBody>
          <a:bodyPr wrap="square" lIns="0" tIns="0" rIns="0" bIns="0" rtlCol="0" anchor="t"/>
          <a:lstStyle/>
          <a:p>
            <a:pPr indent="0" marL="0">
              <a:buNone/>
            </a:pPr>
            <a:r>
              <a:rPr lang="en-US" sz="1400" b="1" dirty="0">
                <a:solidFill>
                  <a:srgbClr val="132238"/>
                </a:solidFill>
                <a:latin typeface="Cambria" pitchFamily="34" charset="0"/>
                <a:ea typeface="Cambria" pitchFamily="34" charset="-122"/>
                <a:cs typeface="Cambria" pitchFamily="34" charset="-120"/>
              </a:rPr>
              <a:t>Stylized facts literature</a:t>
            </a:r>
            <a:endParaRPr lang="en-US" sz="1400" dirty="0"/>
          </a:p>
        </p:txBody>
      </p:sp>
      <p:sp>
        <p:nvSpPr>
          <p:cNvPr id="16" name="Text 13"/>
          <p:cNvSpPr/>
          <p:nvPr/>
        </p:nvSpPr>
        <p:spPr>
          <a:xfrm>
            <a:off x="4206240" y="4636008"/>
            <a:ext cx="3291840" cy="1005840"/>
          </a:xfrm>
          <a:prstGeom prst="rect">
            <a:avLst/>
          </a:prstGeom>
          <a:noFill/>
          <a:ln/>
        </p:spPr>
        <p:txBody>
          <a:bodyPr wrap="square" lIns="0" tIns="0" rIns="0" bIns="0" rtlCol="0" anchor="t"/>
          <a:lstStyle/>
          <a:p>
            <a:pPr indent="0" marL="0">
              <a:buNone/>
            </a:pPr>
            <a:r>
              <a:rPr lang="en-US" sz="1200" i="1" dirty="0">
                <a:solidFill>
                  <a:srgbClr val="5B6B7C"/>
                </a:solidFill>
                <a:latin typeface="Calibri" pitchFamily="34" charset="0"/>
                <a:ea typeface="Calibri" pitchFamily="34" charset="-122"/>
                <a:cs typeface="Calibri" pitchFamily="34" charset="-120"/>
              </a:rPr>
              <a:t>e.g. Cont, R. (2001), empirical properties of asset returns.</a:t>
            </a:r>
            <a:endParaRPr lang="en-US" sz="1200" dirty="0"/>
          </a:p>
        </p:txBody>
      </p:sp>
      <p:sp>
        <p:nvSpPr>
          <p:cNvPr id="17" name="Text 14"/>
          <p:cNvSpPr/>
          <p:nvPr/>
        </p:nvSpPr>
        <p:spPr>
          <a:xfrm>
            <a:off x="7635240" y="4636008"/>
            <a:ext cx="3520440" cy="1005840"/>
          </a:xfrm>
          <a:prstGeom prst="rect">
            <a:avLst/>
          </a:prstGeom>
          <a:noFill/>
          <a:ln/>
        </p:spPr>
        <p:txBody>
          <a:bodyPr wrap="square" lIns="0" tIns="0" rIns="0" bIns="0" rtlCol="0" anchor="t"/>
          <a:lstStyle/>
          <a:p>
            <a:pPr indent="0" marL="0">
              <a:buNone/>
            </a:pPr>
            <a:r>
              <a:rPr lang="en-US" sz="1150" dirty="0">
                <a:solidFill>
                  <a:srgbClr val="1C2733"/>
                </a:solidFill>
                <a:latin typeface="Calibri" pitchFamily="34" charset="0"/>
                <a:ea typeface="Calibri" pitchFamily="34" charset="-122"/>
                <a:cs typeface="Calibri" pitchFamily="34" charset="-120"/>
              </a:rPr>
              <a:t>Documents fat tails and volatility clustering in financial return series -- the basis for Slide 4.</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238"/>
        </a:solidFill>
      </p:bgPr>
    </p:bg>
    <p:spTree>
      <p:nvGrpSpPr>
        <p:cNvPr id="1" name=""/>
        <p:cNvGrpSpPr/>
        <p:nvPr/>
      </p:nvGrpSpPr>
      <p:grpSpPr>
        <a:xfrm>
          <a:off x="0" y="0"/>
          <a:ext cx="0" cy="0"/>
          <a:chOff x="0" y="0"/>
          <a:chExt cx="0" cy="0"/>
        </a:xfrm>
      </p:grpSpPr>
      <p:sp>
        <p:nvSpPr>
          <p:cNvPr id="2" name="Shape 0"/>
          <p:cNvSpPr/>
          <p:nvPr/>
        </p:nvSpPr>
        <p:spPr>
          <a:xfrm>
            <a:off x="-2011680" y="4114800"/>
            <a:ext cx="5029200" cy="5029200"/>
          </a:xfrm>
          <a:prstGeom prst="ellipse">
            <a:avLst/>
          </a:prstGeom>
          <a:solidFill>
            <a:srgbClr val="1F3555"/>
          </a:solidFill>
          <a:ln/>
        </p:spPr>
      </p:sp>
      <p:sp>
        <p:nvSpPr>
          <p:cNvPr id="3" name="Shape 1"/>
          <p:cNvSpPr/>
          <p:nvPr/>
        </p:nvSpPr>
        <p:spPr>
          <a:xfrm>
            <a:off x="822960" y="777240"/>
            <a:ext cx="777240" cy="777240"/>
          </a:xfrm>
          <a:prstGeom prst="ellipse">
            <a:avLst/>
          </a:prstGeom>
          <a:solidFill>
            <a:srgbClr val="1F3555"/>
          </a:solidFill>
          <a:ln/>
        </p:spPr>
      </p:sp>
      <p:pic>
        <p:nvPicPr>
          <p:cNvPr id="4" name="Image 0" descr="icons/flag_gold.png">    </p:cNvPr>
          <p:cNvPicPr>
            <a:picLocks noChangeAspect="1"/>
          </p:cNvPicPr>
          <p:nvPr/>
        </p:nvPicPr>
        <p:blipFill>
          <a:blip r:embed="rId1"/>
          <a:stretch>
            <a:fillRect/>
          </a:stretch>
        </p:blipFill>
        <p:spPr>
          <a:xfrm>
            <a:off x="916229" y="870509"/>
            <a:ext cx="590702" cy="590702"/>
          </a:xfrm>
          <a:prstGeom prst="rect">
            <a:avLst/>
          </a:prstGeom>
        </p:spPr>
      </p:pic>
      <p:sp>
        <p:nvSpPr>
          <p:cNvPr id="5" name="Text 2"/>
          <p:cNvSpPr/>
          <p:nvPr/>
        </p:nvSpPr>
        <p:spPr>
          <a:xfrm>
            <a:off x="822960" y="173736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 &amp; Future Work</a:t>
            </a:r>
            <a:endParaRPr lang="en-US" sz="3200" dirty="0"/>
          </a:p>
        </p:txBody>
      </p:sp>
      <p:sp>
        <p:nvSpPr>
          <p:cNvPr id="6" name="Text 3"/>
          <p:cNvSpPr/>
          <p:nvPr/>
        </p:nvSpPr>
        <p:spPr>
          <a:xfrm>
            <a:off x="822960" y="2560320"/>
            <a:ext cx="6400800" cy="2468880"/>
          </a:xfrm>
          <a:prstGeom prst="rect">
            <a:avLst/>
          </a:prstGeom>
          <a:noFill/>
          <a:ln/>
        </p:spPr>
        <p:txBody>
          <a:bodyPr wrap="square" rtlCol="0" anchor="t"/>
          <a:lstStyle/>
          <a:p>
            <a:pPr marL="342900" indent="-342900">
              <a:spcAft>
                <a:spcPts val="1200"/>
              </a:spcAft>
              <a:buSzPct val="100000"/>
              <a:buChar char="•"/>
            </a:pPr>
            <a:r>
              <a:rPr lang="en-US" sz="1450" dirty="0">
                <a:solidFill>
                  <a:srgbClr val="E7ECF2"/>
                </a:solidFill>
                <a:latin typeface="Calibri" pitchFamily="34" charset="0"/>
                <a:ea typeface="Calibri" pitchFamily="34" charset="-122"/>
                <a:cs typeface="Calibri" pitchFamily="34" charset="-120"/>
              </a:rPr>
              <a:t>Sector segmentation reveals meaningfully different risk profiles, consistent with the systematic/idiosyncratic risk decomposition from portfolio theory.</a:t>
            </a:r>
            <a:endParaRPr lang="en-US" sz="1450" dirty="0"/>
          </a:p>
          <a:p>
            <a:pPr marL="342900" indent="-342900">
              <a:spcAft>
                <a:spcPts val="1200"/>
              </a:spcAft>
              <a:buSzPct val="100000"/>
              <a:buChar char="•"/>
            </a:pPr>
            <a:r>
              <a:rPr lang="en-US" sz="1450" dirty="0">
                <a:solidFill>
                  <a:srgbClr val="E7ECF2"/>
                </a:solidFill>
                <a:latin typeface="Calibri" pitchFamily="34" charset="0"/>
                <a:ea typeface="Calibri" pitchFamily="34" charset="-122"/>
                <a:cs typeface="Calibri" pitchFamily="34" charset="-120"/>
              </a:rPr>
              <a:t>RSI and volatility together give a fuller picture than either alone.</a:t>
            </a:r>
            <a:endParaRPr lang="en-US" sz="1450" dirty="0"/>
          </a:p>
          <a:p>
            <a:pPr marL="342900" indent="-342900">
              <a:spcAft>
                <a:spcPts val="1200"/>
              </a:spcAft>
              <a:buSzPct val="100000"/>
              <a:buChar char="•"/>
            </a:pPr>
            <a:r>
              <a:rPr lang="en-US" sz="1450" dirty="0">
                <a:solidFill>
                  <a:srgbClr val="E7ECF2"/>
                </a:solidFill>
                <a:latin typeface="Calibri" pitchFamily="34" charset="0"/>
                <a:ea typeface="Calibri" pitchFamily="34" charset="-122"/>
                <a:cs typeface="Calibri" pitchFamily="34" charset="-120"/>
              </a:rPr>
              <a:t>Low cross-sector correlation empirically supports diversification as a genuine, not just theoretical, risk-reduction strategy in this sample.</a:t>
            </a:r>
            <a:endParaRPr lang="en-US" sz="1450" dirty="0"/>
          </a:p>
        </p:txBody>
      </p:sp>
      <p:sp>
        <p:nvSpPr>
          <p:cNvPr id="7" name="Shape 4"/>
          <p:cNvSpPr/>
          <p:nvPr/>
        </p:nvSpPr>
        <p:spPr>
          <a:xfrm>
            <a:off x="7589520" y="2560320"/>
            <a:ext cx="3794760" cy="3566160"/>
          </a:xfrm>
          <a:prstGeom prst="roundRect">
            <a:avLst>
              <a:gd name="adj" fmla="val 2564"/>
            </a:avLst>
          </a:prstGeom>
          <a:solidFill>
            <a:srgbClr val="1F3555"/>
          </a:solidFill>
          <a:ln/>
        </p:spPr>
      </p:sp>
      <p:sp>
        <p:nvSpPr>
          <p:cNvPr id="8" name="Text 5"/>
          <p:cNvSpPr/>
          <p:nvPr/>
        </p:nvSpPr>
        <p:spPr>
          <a:xfrm>
            <a:off x="7818120" y="2743200"/>
            <a:ext cx="3383280" cy="320040"/>
          </a:xfrm>
          <a:prstGeom prst="rect">
            <a:avLst/>
          </a:prstGeom>
          <a:noFill/>
          <a:ln/>
        </p:spPr>
        <p:txBody>
          <a:bodyPr wrap="square" lIns="0" tIns="0" rIns="0" bIns="0" rtlCol="0" anchor="ctr"/>
          <a:lstStyle/>
          <a:p>
            <a:pPr indent="0" marL="0">
              <a:buNone/>
            </a:pPr>
            <a:r>
              <a:rPr lang="en-US" sz="1100" b="1" spc="150" kern="0" dirty="0">
                <a:solidFill>
                  <a:srgbClr val="D9A94F"/>
                </a:solidFill>
                <a:latin typeface="Calibri" pitchFamily="34" charset="0"/>
                <a:ea typeface="Calibri" pitchFamily="34" charset="-122"/>
                <a:cs typeface="Calibri" pitchFamily="34" charset="-120"/>
              </a:rPr>
              <a:t>FUTURE WORK</a:t>
            </a:r>
            <a:endParaRPr lang="en-US" sz="1100" dirty="0"/>
          </a:p>
        </p:txBody>
      </p:sp>
      <p:sp>
        <p:nvSpPr>
          <p:cNvPr id="9" name="Text 6"/>
          <p:cNvSpPr/>
          <p:nvPr/>
        </p:nvSpPr>
        <p:spPr>
          <a:xfrm>
            <a:off x="7818120" y="3154680"/>
            <a:ext cx="3383280" cy="2834640"/>
          </a:xfrm>
          <a:prstGeom prst="rect">
            <a:avLst/>
          </a:prstGeom>
          <a:noFill/>
          <a:ln/>
        </p:spPr>
        <p:txBody>
          <a:bodyPr wrap="square" rtlCol="0" anchor="t"/>
          <a:lstStyle/>
          <a:p>
            <a:pPr marL="342900" indent="-342900">
              <a:spcAft>
                <a:spcPts val="900"/>
              </a:spcAft>
              <a:buSzPct val="100000"/>
              <a:buChar char="•"/>
            </a:pPr>
            <a:r>
              <a:rPr lang="en-US" sz="1200" dirty="0">
                <a:solidFill>
                  <a:srgbClr val="E7ECF2"/>
                </a:solidFill>
                <a:latin typeface="Calibri" pitchFamily="34" charset="0"/>
                <a:ea typeface="Calibri" pitchFamily="34" charset="-122"/>
                <a:cs typeface="Calibri" pitchFamily="34" charset="-120"/>
              </a:rPr>
              <a:t>Extend to a full benchmark index (NIFTY 50)</a:t>
            </a:r>
            <a:endParaRPr lang="en-US" sz="1200" dirty="0"/>
          </a:p>
          <a:p>
            <a:pPr marL="342900" indent="-342900">
              <a:spcAft>
                <a:spcPts val="900"/>
              </a:spcAft>
              <a:buSzPct val="100000"/>
              <a:buChar char="•"/>
            </a:pPr>
            <a:r>
              <a:rPr lang="en-US" sz="1200" dirty="0">
                <a:solidFill>
                  <a:srgbClr val="E7ECF2"/>
                </a:solidFill>
                <a:latin typeface="Calibri" pitchFamily="34" charset="0"/>
                <a:ea typeface="Calibri" pitchFamily="34" charset="-122"/>
                <a:cs typeface="Calibri" pitchFamily="34" charset="-120"/>
              </a:rPr>
              <a:t>Add drawdown / maximum-loss analysis</a:t>
            </a:r>
            <a:endParaRPr lang="en-US" sz="1200" dirty="0"/>
          </a:p>
          <a:p>
            <a:pPr marL="342900" indent="-342900">
              <a:spcAft>
                <a:spcPts val="900"/>
              </a:spcAft>
              <a:buSzPct val="100000"/>
              <a:buChar char="•"/>
            </a:pPr>
            <a:r>
              <a:rPr lang="en-US" sz="1200" dirty="0">
                <a:solidFill>
                  <a:srgbClr val="E7ECF2"/>
                </a:solidFill>
                <a:latin typeface="Calibri" pitchFamily="34" charset="0"/>
                <a:ea typeface="Calibri" pitchFamily="34" charset="-122"/>
                <a:cs typeface="Calibri" pitchFamily="34" charset="-120"/>
              </a:rPr>
              <a:t>Formal significance testing across sector differences</a:t>
            </a:r>
            <a:endParaRPr lang="en-US" sz="1200" dirty="0"/>
          </a:p>
          <a:p>
            <a:pPr marL="342900" indent="-342900">
              <a:spcAft>
                <a:spcPts val="900"/>
              </a:spcAft>
              <a:buSzPct val="100000"/>
              <a:buChar char="•"/>
            </a:pPr>
            <a:r>
              <a:rPr lang="en-US" sz="1200" dirty="0">
                <a:solidFill>
                  <a:srgbClr val="E7ECF2"/>
                </a:solidFill>
                <a:latin typeface="Calibri" pitchFamily="34" charset="0"/>
                <a:ea typeface="Calibri" pitchFamily="34" charset="-122"/>
                <a:cs typeface="Calibri" pitchFamily="34" charset="-120"/>
              </a:rPr>
              <a:t>Market-cap weighting instead of equal weighting</a:t>
            </a:r>
            <a:endParaRPr lang="en-US" sz="1200" dirty="0"/>
          </a:p>
          <a:p>
            <a:pPr marL="342900" indent="-342900">
              <a:spcAft>
                <a:spcPts val="900"/>
              </a:spcAft>
              <a:buSzPct val="100000"/>
              <a:buChar char="•"/>
            </a:pPr>
            <a:r>
              <a:rPr lang="en-US" sz="1200" dirty="0">
                <a:solidFill>
                  <a:srgbClr val="E7ECF2"/>
                </a:solidFill>
                <a:latin typeface="Calibri" pitchFamily="34" charset="0"/>
                <a:ea typeface="Calibri" pitchFamily="34" charset="-122"/>
                <a:cs typeface="Calibri" pitchFamily="34" charset="-120"/>
              </a:rPr>
              <a:t>Live data via yfinance / Kite Connect</a:t>
            </a:r>
            <a:endParaRPr lang="en-US" sz="1200" dirty="0"/>
          </a:p>
        </p:txBody>
      </p:sp>
      <p:sp>
        <p:nvSpPr>
          <p:cNvPr id="10" name="Text 7"/>
          <p:cNvSpPr/>
          <p:nvPr/>
        </p:nvSpPr>
        <p:spPr>
          <a:xfrm>
            <a:off x="822960" y="5989320"/>
            <a:ext cx="5486400" cy="457200"/>
          </a:xfrm>
          <a:prstGeom prst="rect">
            <a:avLst/>
          </a:prstGeom>
          <a:noFill/>
          <a:ln/>
        </p:spPr>
        <p:txBody>
          <a:bodyPr wrap="square" lIns="0" tIns="0" rIns="0" bIns="0" rtlCol="0" anchor="ctr"/>
          <a:lstStyle/>
          <a:p>
            <a:pPr indent="0" marL="0">
              <a:buNone/>
            </a:pPr>
            <a:r>
              <a:rPr lang="en-US" sz="1800" i="1" dirty="0">
                <a:solidFill>
                  <a:srgbClr val="D9A94F"/>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Volatility &amp; Sector Analysis</dc:title>
  <dc:subject>PptxGenJS Presentation</dc:subject>
  <dc:creator>Dikshant</dc:creator>
  <cp:lastModifiedBy>Dikshant</cp:lastModifiedBy>
  <cp:revision>1</cp:revision>
  <dcterms:created xsi:type="dcterms:W3CDTF">2026-08-22T09:11:24Z</dcterms:created>
  <dcterms:modified xsi:type="dcterms:W3CDTF">2026-08-22T09:11:24Z</dcterms:modified>
</cp:coreProperties>
</file>